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9" r:id="rId5"/>
    <p:sldId id="2605" r:id="rId6"/>
    <p:sldId id="2606" r:id="rId7"/>
    <p:sldId id="2607" r:id="rId8"/>
    <p:sldId id="2608" r:id="rId9"/>
    <p:sldId id="2609" r:id="rId10"/>
    <p:sldId id="2610" r:id="rId11"/>
    <p:sldId id="2611" r:id="rId12"/>
    <p:sldId id="2612" r:id="rId13"/>
    <p:sldId id="2613" r:id="rId14"/>
    <p:sldId id="2614" r:id="rId15"/>
    <p:sldId id="2616" r:id="rId16"/>
    <p:sldId id="2615" r:id="rId17"/>
    <p:sldId id="2618" r:id="rId18"/>
    <p:sldId id="2617" r:id="rId19"/>
    <p:sldId id="2601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1178"/>
    <a:srgbClr val="6846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727FA-E152-4E2C-A5EC-1614E796AB70}" v="7" dt="2022-12-29T07:24:40.501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2923" autoAdjust="0"/>
  </p:normalViewPr>
  <p:slideViewPr>
    <p:cSldViewPr snapToGrid="0">
      <p:cViewPr varScale="1">
        <p:scale>
          <a:sx n="80" d="100"/>
          <a:sy n="80" d="100"/>
        </p:scale>
        <p:origin x="1061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2">
            <a:extLst>
              <a:ext uri="{FF2B5EF4-FFF2-40B4-BE49-F238E27FC236}">
                <a16:creationId xmlns:a16="http://schemas.microsoft.com/office/drawing/2014/main" id="{FDF90B2A-6B8D-2244-8DC9-BDE251A33C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5356" y="8388615"/>
            <a:ext cx="1981388" cy="652774"/>
          </a:xfrm>
          <a:prstGeom prst="rect">
            <a:avLst/>
          </a:prstGeom>
        </p:spPr>
      </p:pic>
      <p:sp>
        <p:nvSpPr>
          <p:cNvPr id="11" name="Fußzeilenplatzhalter 10"/>
          <p:cNvSpPr>
            <a:spLocks noGrp="1"/>
          </p:cNvSpPr>
          <p:nvPr>
            <p:ph type="ftr" sz="quarter" idx="2"/>
          </p:nvPr>
        </p:nvSpPr>
        <p:spPr>
          <a:xfrm>
            <a:off x="323682" y="8575889"/>
            <a:ext cx="2971800" cy="2782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930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7265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1FE0-5E4A-4E7D-A243-7645F1B6A6BB}" type="datetimeFigureOut">
              <a:rPr lang="en-US" smtClean="0"/>
              <a:pPr/>
              <a:t>2/14/2026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Formatvorlagen</a:t>
            </a:r>
            <a:r>
              <a:rPr lang="en-US" dirty="0"/>
              <a:t> des </a:t>
            </a:r>
            <a:r>
              <a:rPr lang="en-US" dirty="0" err="1"/>
              <a:t>Textmasters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9AB2E-FDE1-4BC6-85B4-B5D76715CF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3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8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D8C3-DBB8-9E51-7639-D24DE56A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7F0261-74C9-340A-CE36-16D9E82DE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B12268-DB51-8DAD-C2E5-FE1366325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7B4218-AFEA-0C50-5079-4799EC6FF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9AB2E-FDE1-4BC6-85B4-B5D76715CF3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95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82664" y="1160463"/>
            <a:ext cx="7543820" cy="1986498"/>
          </a:xfrm>
        </p:spPr>
        <p:txBody>
          <a:bodyPr anchor="b"/>
          <a:lstStyle>
            <a:lvl1pPr algn="l">
              <a:defRPr sz="4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42pt, bold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982663" y="3388282"/>
            <a:ext cx="7543819" cy="293069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Presentation subtitle, 20pt, max. 1 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43EC69-A9A8-46BA-B101-6BF95CBB51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663" y="3934800"/>
            <a:ext cx="7543819" cy="219117"/>
          </a:xfrm>
        </p:spPr>
        <p:txBody>
          <a:bodyPr/>
          <a:lstStyle>
            <a:lvl1pPr>
              <a:spcBef>
                <a:spcPts val="0"/>
              </a:spcBef>
              <a:defRPr sz="1400" b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Date, 14PT, Black, capital letters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28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Picture_lef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360843" y="1160463"/>
            <a:ext cx="7543820" cy="1986498"/>
          </a:xfrm>
        </p:spPr>
        <p:txBody>
          <a:bodyPr anchor="b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42pt, bold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360842" y="3388282"/>
            <a:ext cx="7543819" cy="293069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subtitle, 20pt, max. 1 line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13D6958-4274-44BC-85D6-76026FBDA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60844" y="3933773"/>
            <a:ext cx="7543819" cy="219117"/>
          </a:xfrm>
        </p:spPr>
        <p:txBody>
          <a:bodyPr/>
          <a:lstStyle>
            <a:lvl1pPr>
              <a:spcBef>
                <a:spcPts val="0"/>
              </a:spcBef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Date, 14PT, Black, capital letters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097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Picture_left_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360843" y="1160463"/>
            <a:ext cx="7543820" cy="1986498"/>
          </a:xfrm>
        </p:spPr>
        <p:txBody>
          <a:bodyPr anchor="b"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42pt, bold</a:t>
            </a:r>
            <a:br>
              <a:rPr lang="en-US" dirty="0"/>
            </a:br>
            <a:r>
              <a:rPr lang="en-US" dirty="0"/>
              <a:t>max. 3 lines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360842" y="3388282"/>
            <a:ext cx="7543819" cy="293069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subtitle, 20pt, max. 1 line</a:t>
            </a:r>
          </a:p>
        </p:txBody>
      </p:sp>
      <p:sp>
        <p:nvSpPr>
          <p:cNvPr id="9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-6350" y="0"/>
            <a:ext cx="3083863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EE5FD86-4C93-4534-8B40-492D99EE04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60845" y="3934800"/>
            <a:ext cx="7543818" cy="219117"/>
          </a:xfrm>
        </p:spPr>
        <p:txBody>
          <a:bodyPr/>
          <a:lstStyle>
            <a:lvl1pPr>
              <a:spcBef>
                <a:spcPts val="0"/>
              </a:spcBef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Date, 14PT, Black, capital letters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705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blac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82663" y="422911"/>
            <a:ext cx="10922000" cy="35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2663" y="1449389"/>
            <a:ext cx="10922000" cy="45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 marL="180975" indent="-180975">
              <a:buClr>
                <a:schemeClr val="bg1"/>
              </a:buClr>
              <a:defRPr sz="2000" baseline="0">
                <a:solidFill>
                  <a:schemeClr val="bg1"/>
                </a:solidFill>
              </a:defRPr>
            </a:lvl3pPr>
            <a:lvl4pPr marL="357188" indent="-176213">
              <a:defRPr sz="2000">
                <a:solidFill>
                  <a:schemeClr val="bg1"/>
                </a:solidFill>
              </a:defRPr>
            </a:lvl4pPr>
            <a:lvl5pPr marL="538163" indent="-180975">
              <a:defRPr sz="2000">
                <a:solidFill>
                  <a:schemeClr val="bg1"/>
                </a:solidFill>
              </a:defRPr>
            </a:lvl5pPr>
          </a:lstStyle>
          <a:p>
            <a:pPr lvl="2"/>
            <a:r>
              <a:rPr lang="en-US" dirty="0"/>
              <a:t>Topic One</a:t>
            </a:r>
          </a:p>
          <a:p>
            <a:pPr lvl="2"/>
            <a:r>
              <a:rPr lang="en-US" dirty="0"/>
              <a:t>Topic Two</a:t>
            </a:r>
          </a:p>
          <a:p>
            <a:pPr lvl="2"/>
            <a:r>
              <a:rPr lang="en-US" dirty="0"/>
              <a:t>Topic Three</a:t>
            </a:r>
          </a:p>
          <a:p>
            <a:pPr lvl="2"/>
            <a:r>
              <a:rPr lang="en-US" dirty="0"/>
              <a:t>Topic Four</a:t>
            </a:r>
          </a:p>
          <a:p>
            <a:pPr lvl="2"/>
            <a:r>
              <a:rPr lang="en-US" dirty="0"/>
              <a:t>Topic Five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4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13D5FD-81A9-40A5-BD73-304893578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9013" y="1449389"/>
            <a:ext cx="10915650" cy="4572000"/>
          </a:xfrm>
        </p:spPr>
        <p:txBody>
          <a:bodyPr/>
          <a:lstStyle>
            <a:lvl1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1pPr>
            <a:lvl2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2pPr>
            <a:lvl3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3pPr>
            <a:lvl4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4pPr>
            <a:lvl5pPr marL="176213" indent="-176213">
              <a:buFont typeface="Arial" panose="020B0604020202020204" pitchFamily="34" charset="0"/>
              <a:buChar char="•"/>
              <a:defRPr sz="20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Topic One</a:t>
            </a:r>
          </a:p>
          <a:p>
            <a:pPr lvl="0"/>
            <a:r>
              <a:rPr lang="en-US" dirty="0"/>
              <a:t>Topic Two</a:t>
            </a:r>
          </a:p>
          <a:p>
            <a:pPr lvl="0"/>
            <a:r>
              <a:rPr lang="en-US" dirty="0"/>
              <a:t>Topic Three</a:t>
            </a:r>
          </a:p>
          <a:p>
            <a:pPr lvl="0"/>
            <a:r>
              <a:rPr lang="en-US" dirty="0"/>
              <a:t>Topic Four</a:t>
            </a:r>
          </a:p>
          <a:p>
            <a:pPr lvl="0"/>
            <a:r>
              <a:rPr lang="en-US" dirty="0"/>
              <a:t>Topic Five</a:t>
            </a:r>
          </a:p>
        </p:txBody>
      </p:sp>
    </p:spTree>
    <p:extLst>
      <p:ext uri="{BB962C8B-B14F-4D97-AF65-F5344CB8AC3E}">
        <p14:creationId xmlns:p14="http://schemas.microsoft.com/office/powerpoint/2010/main" val="32483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20446C-EE8D-4E4C-A822-6EE273952E7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9013" y="2167996"/>
            <a:ext cx="4509262" cy="1379688"/>
          </a:xfrm>
        </p:spPr>
        <p:txBody>
          <a:bodyPr anchor="b"/>
          <a:lstStyle>
            <a:lvl1pPr>
              <a:defRPr sz="4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title,</a:t>
            </a:r>
            <a:br>
              <a:rPr lang="en-US" dirty="0"/>
            </a:br>
            <a:r>
              <a:rPr lang="en-US" dirty="0"/>
              <a:t>42pt.,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982664" y="3879349"/>
            <a:ext cx="4515612" cy="607985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20pt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pic>
        <p:nvPicPr>
          <p:cNvPr id="11" name="Picture 10" descr="Mountain reflected in lake">
            <a:extLst>
              <a:ext uri="{FF2B5EF4-FFF2-40B4-BE49-F238E27FC236}">
                <a16:creationId xmlns:a16="http://schemas.microsoft.com/office/drawing/2014/main" id="{6019A700-93FF-4990-9CDB-658EADDBA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997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_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2" hasCustomPrompt="1"/>
          </p:nvPr>
        </p:nvSpPr>
        <p:spPr>
          <a:xfrm>
            <a:off x="6492725" y="0"/>
            <a:ext cx="5699275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9013" y="2167996"/>
            <a:ext cx="4509262" cy="1379688"/>
          </a:xfrm>
        </p:spPr>
        <p:txBody>
          <a:bodyPr anchor="b"/>
          <a:lstStyle>
            <a:lvl1pPr>
              <a:defRPr sz="4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title,</a:t>
            </a:r>
            <a:br>
              <a:rPr lang="en-US" dirty="0"/>
            </a:br>
            <a:r>
              <a:rPr lang="en-US" dirty="0"/>
              <a:t>42pt.,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982664" y="3879349"/>
            <a:ext cx="4515612" cy="607985"/>
          </a:xfr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20pt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6FB3992-54EF-4F1C-815D-B616C86E3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1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1_text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1" y="1449389"/>
            <a:ext cx="10922001" cy="4572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010269EA-AB3B-443A-BBC6-3D966056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liennummernplatzhalter 3">
            <a:extLst>
              <a:ext uri="{FF2B5EF4-FFF2-40B4-BE49-F238E27FC236}">
                <a16:creationId xmlns:a16="http://schemas.microsoft.com/office/drawing/2014/main" id="{C3EE4FB3-3329-4D10-8038-24CBCB4E74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8619" y="6291264"/>
            <a:ext cx="594043" cy="2808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E025119C-5CEB-49C9-AC3A-DDECC2B0C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22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_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2" y="1449389"/>
            <a:ext cx="5317200" cy="4572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7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587463" y="1449389"/>
            <a:ext cx="5317200" cy="4572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B566814A-4E8F-4353-A38A-5DE43CCF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24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_text_boxes_and_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982662" y="1449388"/>
            <a:ext cx="3448800" cy="23247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4719462" y="1449388"/>
            <a:ext cx="3448800" cy="23247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9" hasCustomPrompt="1"/>
          </p:nvPr>
        </p:nvSpPr>
        <p:spPr>
          <a:xfrm>
            <a:off x="8462612" y="1449388"/>
            <a:ext cx="3448800" cy="23247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19" name="Untertitel 2">
            <a:extLst>
              <a:ext uri="{FF2B5EF4-FFF2-40B4-BE49-F238E27FC236}">
                <a16:creationId xmlns:a16="http://schemas.microsoft.com/office/drawing/2014/main" id="{24314A69-5AB4-4634-9F90-13D8B3A0BE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2662" y="3913821"/>
            <a:ext cx="3448800" cy="11376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de-DE" sz="1100" b="0" kern="1200" noProof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Flowing Text level, Verdana,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A925377-5D13-4DEC-99D1-1EAA25E321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19462" y="3913189"/>
            <a:ext cx="3448226" cy="1138238"/>
          </a:xfrm>
        </p:spPr>
        <p:txBody>
          <a:bodyPr/>
          <a:lstStyle>
            <a:lvl1pPr>
              <a:defRPr sz="11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Flowing Text level, Verdana,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B2C22B51-9BCC-4306-98B7-D4011A0F69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62612" y="3913189"/>
            <a:ext cx="3442051" cy="1138238"/>
          </a:xfrm>
        </p:spPr>
        <p:txBody>
          <a:bodyPr/>
          <a:lstStyle>
            <a:lvl1pPr>
              <a:defRPr sz="11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Flowing Text level, Verdana,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6" name="Titelplatzhalter 1">
            <a:extLst>
              <a:ext uri="{FF2B5EF4-FFF2-40B4-BE49-F238E27FC236}">
                <a16:creationId xmlns:a16="http://schemas.microsoft.com/office/drawing/2014/main" id="{5F7203BF-1C0F-4BBC-ACB8-1F5A4BA2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79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10C3-6450-40E4-89F2-150E281E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15650" cy="38148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D7958-340B-45BF-8F42-4D74A69262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D2834-41A4-4D66-96D8-D4E923C9D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5CD764-8B09-4FA3-8416-ABA24B703D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0BE761BF-FFA9-468C-925A-7C826D80DF28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982663" y="1449388"/>
            <a:ext cx="10922000" cy="457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28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nly_Headlin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21E8B4DA-85BA-4264-B448-2E1258C0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298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Only_Headlin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21E8B4DA-85BA-4264-B448-2E1258C0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1092240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1077E46-F0BB-4110-99FE-87E6A71544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49219614"/>
              </p:ext>
            </p:extLst>
          </p:nvPr>
        </p:nvGraphicFramePr>
        <p:xfrm>
          <a:off x="982661" y="1691216"/>
          <a:ext cx="10928752" cy="352086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464376">
                  <a:extLst>
                    <a:ext uri="{9D8B030D-6E8A-4147-A177-3AD203B41FA5}">
                      <a16:colId xmlns:a16="http://schemas.microsoft.com/office/drawing/2014/main" val="1595903310"/>
                    </a:ext>
                  </a:extLst>
                </a:gridCol>
                <a:gridCol w="5464376">
                  <a:extLst>
                    <a:ext uri="{9D8B030D-6E8A-4147-A177-3AD203B41FA5}">
                      <a16:colId xmlns:a16="http://schemas.microsoft.com/office/drawing/2014/main" val="1459721838"/>
                    </a:ext>
                  </a:extLst>
                </a:gridCol>
              </a:tblGrid>
              <a:tr h="440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152225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426369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628386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943420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023143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90784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655599"/>
                  </a:ext>
                </a:extLst>
              </a:tr>
              <a:tr h="4401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7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191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nly_Headline_Purp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929741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6A95F389-AE48-4F32-9F35-395BF54E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645896"/>
            <a:ext cx="929741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39C1585F-416F-465A-A0F6-C3BC56092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4" y="-103367"/>
            <a:ext cx="1452659" cy="72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36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Pictur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6094800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37959" y="851405"/>
            <a:ext cx="5373453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37959" y="2419351"/>
            <a:ext cx="5366704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7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982662" y="944563"/>
            <a:ext cx="4709477" cy="5081255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6537959" y="854000"/>
            <a:ext cx="5373453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37959" y="2419200"/>
            <a:ext cx="5366704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00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2663" y="862371"/>
            <a:ext cx="4526597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82663" y="2403387"/>
            <a:ext cx="4520911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6400799" y="944563"/>
            <a:ext cx="5503863" cy="358158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400799" y="4738283"/>
            <a:ext cx="5503864" cy="1267142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</p:txBody>
      </p:sp>
      <p:sp>
        <p:nvSpPr>
          <p:cNvPr id="15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6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iagram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iagrammplatzhalter 10"/>
          <p:cNvSpPr>
            <a:spLocks noGrp="1"/>
          </p:cNvSpPr>
          <p:nvPr>
            <p:ph type="chart" sz="quarter" idx="14"/>
          </p:nvPr>
        </p:nvSpPr>
        <p:spPr>
          <a:xfrm>
            <a:off x="6400800" y="938164"/>
            <a:ext cx="5503863" cy="5067261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C2EEA5B-B8B4-4E8B-AC97-B3CA08750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862371"/>
            <a:ext cx="4526597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29FD0944-B50E-40DE-A117-8A579BBB0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2663" y="2403387"/>
            <a:ext cx="4520911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</p:spTree>
    <p:extLst>
      <p:ext uri="{BB962C8B-B14F-4D97-AF65-F5344CB8AC3E}">
        <p14:creationId xmlns:p14="http://schemas.microsoft.com/office/powerpoint/2010/main" val="2748719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Left_2_Text_Boxes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3870325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61000" y="851405"/>
            <a:ext cx="7749352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61000" y="2403476"/>
            <a:ext cx="3726000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184352" y="2403476"/>
            <a:ext cx="3726000" cy="3602037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Left_4_Text_Boxes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5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3870325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lIns="0" anchor="ctr"/>
          <a:lstStyle>
            <a:lvl1pPr algn="ctr">
              <a:defRPr sz="3600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61000" y="855047"/>
            <a:ext cx="7749352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161000" y="2406650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184352" y="2406650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161000" y="4349513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7" hasCustomPrompt="1"/>
          </p:nvPr>
        </p:nvSpPr>
        <p:spPr>
          <a:xfrm>
            <a:off x="8184352" y="4349513"/>
            <a:ext cx="37260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65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ltGray">
          <a:xfrm>
            <a:off x="6874800" y="0"/>
            <a:ext cx="5317200" cy="6858000"/>
          </a:xfrm>
          <a:prstGeom prst="rect">
            <a:avLst/>
          </a:prstGeom>
          <a:solidFill>
            <a:srgbClr val="512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89014" y="883270"/>
            <a:ext cx="5317200" cy="9885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Title, 24pt, bold,</a:t>
            </a:r>
            <a:br>
              <a:rPr lang="en-US" dirty="0"/>
            </a:br>
            <a:r>
              <a:rPr lang="en-US" dirty="0"/>
              <a:t>max. 2 lines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89013" y="2262958"/>
            <a:ext cx="5317200" cy="1656000"/>
          </a:xfrm>
        </p:spPr>
        <p:txBody>
          <a:bodyPr/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15" hasCustomPrompt="1"/>
          </p:nvPr>
        </p:nvSpPr>
        <p:spPr bwMode="ltGray">
          <a:xfrm>
            <a:off x="7400925" y="2262958"/>
            <a:ext cx="4503738" cy="165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D99E03F-33C2-4F9A-97EB-0FEA46149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094" y="-92364"/>
            <a:ext cx="1497739" cy="74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312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9D1A97-4450-4012-9ADB-C3F6F5FF22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15" name="Picture 14" descr="Mountain reflected in lake">
            <a:extLst>
              <a:ext uri="{FF2B5EF4-FFF2-40B4-BE49-F238E27FC236}">
                <a16:creationId xmlns:a16="http://schemas.microsoft.com/office/drawing/2014/main" id="{3329C5DF-E9EB-4954-81F6-2885658A7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948941" y="1918496"/>
            <a:ext cx="6294119" cy="2623024"/>
          </a:xfrm>
        </p:spPr>
        <p:txBody>
          <a:bodyPr anchor="ctr"/>
          <a:lstStyle>
            <a:lvl1pPr algn="ctr">
              <a:defRPr sz="4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Quote, 42pt,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2948940" y="4676395"/>
            <a:ext cx="6294120" cy="607985"/>
          </a:xfrm>
        </p:spPr>
        <p:txBody>
          <a:bodyPr/>
          <a:lstStyle>
            <a:lvl1pPr marL="0" indent="0" algn="ctr">
              <a:buNone/>
              <a:defRPr sz="15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Name, 15pt, bold, capital letters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60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6F2BA4-369F-470F-8C65-3E1CEB7A18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15" name="Picture 14" descr="Mountain reflected in lake">
            <a:extLst>
              <a:ext uri="{FF2B5EF4-FFF2-40B4-BE49-F238E27FC236}">
                <a16:creationId xmlns:a16="http://schemas.microsoft.com/office/drawing/2014/main" id="{44005239-5E35-40FA-AD97-25E05F3D8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  <a:solidFill>
            <a:srgbClr val="92D050"/>
          </a:solidFill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948941" y="2346960"/>
            <a:ext cx="6294119" cy="824467"/>
          </a:xfrm>
        </p:spPr>
        <p:txBody>
          <a:bodyPr anchor="b"/>
          <a:lstStyle>
            <a:lvl1pPr algn="ctr"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Statement, 24pt, bold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96545"/>
            <a:ext cx="10922000" cy="371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42259-5C42-4B5C-8BFE-C3D877E21C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49575" y="3307080"/>
            <a:ext cx="6292850" cy="1204912"/>
          </a:xfrm>
        </p:spPr>
        <p:txBody>
          <a:bodyPr/>
          <a:lstStyle>
            <a:lvl1pPr algn="ctr">
              <a:defRPr sz="1100" b="0">
                <a:solidFill>
                  <a:schemeClr val="tx1"/>
                </a:solidFill>
              </a:defRPr>
            </a:lvl1pPr>
            <a:lvl2pPr algn="ctr">
              <a:defRPr sz="1100" b="0">
                <a:solidFill>
                  <a:schemeClr val="bg1"/>
                </a:solidFill>
              </a:defRPr>
            </a:lvl2pPr>
            <a:lvl3pPr algn="ctr">
              <a:defRPr sz="1100" b="0">
                <a:solidFill>
                  <a:schemeClr val="bg1"/>
                </a:solidFill>
              </a:defRPr>
            </a:lvl3pPr>
            <a:lvl4pPr algn="ctr">
              <a:defRPr sz="1100" b="0">
                <a:solidFill>
                  <a:schemeClr val="bg1"/>
                </a:solidFill>
              </a:defRPr>
            </a:lvl4pPr>
            <a:lvl5pPr algn="ctr">
              <a:defRPr sz="11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Flowing text level, 11 </a:t>
            </a:r>
            <a:r>
              <a:rPr lang="en-GB" noProof="0" dirty="0" err="1"/>
              <a:t>pt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512478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ountain reflected in lake">
            <a:extLst>
              <a:ext uri="{FF2B5EF4-FFF2-40B4-BE49-F238E27FC236}">
                <a16:creationId xmlns:a16="http://schemas.microsoft.com/office/drawing/2014/main" id="{E1E14815-AC8D-4269-8F40-0BCDA23ED9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70" b="-1"/>
          <a:stretch/>
        </p:blipFill>
        <p:spPr>
          <a:xfrm>
            <a:off x="2685472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5511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ountain reflected in lake">
            <a:extLst>
              <a:ext uri="{FF2B5EF4-FFF2-40B4-BE49-F238E27FC236}">
                <a16:creationId xmlns:a16="http://schemas.microsoft.com/office/drawing/2014/main" id="{8F284E6E-3CE6-4C6C-9FB7-E3EC8AC5A2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681" r="-2" b="11077"/>
          <a:stretch/>
        </p:blipFill>
        <p:spPr>
          <a:xfrm>
            <a:off x="7711" y="6707"/>
            <a:ext cx="12184289" cy="6851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44CE7-0934-4B49-92BB-4823E62E559C}"/>
              </a:ext>
            </a:extLst>
          </p:cNvPr>
          <p:cNvSpPr txBox="1"/>
          <p:nvPr userDrawn="1"/>
        </p:nvSpPr>
        <p:spPr>
          <a:xfrm>
            <a:off x="2668100" y="630517"/>
            <a:ext cx="68360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  <a:endParaRPr lang="en-US" sz="4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C50FEE-E671-40B7-9057-247823B47C3A}"/>
              </a:ext>
            </a:extLst>
          </p:cNvPr>
          <p:cNvSpPr/>
          <p:nvPr userDrawn="1"/>
        </p:nvSpPr>
        <p:spPr>
          <a:xfrm rot="2700000">
            <a:off x="6316135" y="5352159"/>
            <a:ext cx="230427" cy="2304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A14F09-6EE5-432F-8961-40F18B6CFC0C}"/>
              </a:ext>
            </a:extLst>
          </p:cNvPr>
          <p:cNvCxnSpPr/>
          <p:nvPr userDrawn="1"/>
        </p:nvCxnSpPr>
        <p:spPr>
          <a:xfrm flipH="1">
            <a:off x="4290571" y="5467372"/>
            <a:ext cx="182422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2F4357-38B7-4AAD-889A-3565C0394CED}"/>
              </a:ext>
            </a:extLst>
          </p:cNvPr>
          <p:cNvCxnSpPr/>
          <p:nvPr userDrawn="1"/>
        </p:nvCxnSpPr>
        <p:spPr>
          <a:xfrm flipH="1">
            <a:off x="6767673" y="5467372"/>
            <a:ext cx="1747412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2E1CAC5B-B640-4066-B22C-E262E8CEE5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542" y="6111948"/>
            <a:ext cx="1497739" cy="74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07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89013" y="680400"/>
            <a:ext cx="10915650" cy="3814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Title, 20pt, bold, max. 1 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89013" y="1439999"/>
            <a:ext cx="10915650" cy="45813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Subtitle</a:t>
            </a:r>
          </a:p>
          <a:p>
            <a:pPr lvl="1"/>
            <a:r>
              <a:rPr lang="en-US" noProof="0" dirty="0"/>
              <a:t>Flowing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Mockito - Testing Framework |  © SmartCliff  |  Internal  |  Version 1.0  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8619" y="6291264"/>
            <a:ext cx="594043" cy="280898"/>
          </a:xfrm>
          <a:prstGeom prst="rect">
            <a:avLst/>
          </a:prstGeom>
        </p:spPr>
        <p:txBody>
          <a:bodyPr vert="horz" lIns="91440" tIns="45720" rIns="108000" bIns="45720" rtlCol="0" anchor="ctr"/>
          <a:lstStyle>
            <a:lvl1pPr algn="r">
              <a:defRPr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4EFF315-FA4E-4084-ACCF-A94C350B88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6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74" r:id="rId11"/>
    <p:sldLayoutId id="2147483658" r:id="rId12"/>
    <p:sldLayoutId id="2147483676" r:id="rId13"/>
    <p:sldLayoutId id="2147483673" r:id="rId14"/>
    <p:sldLayoutId id="2147483663" r:id="rId15"/>
    <p:sldLayoutId id="2147483666" r:id="rId16"/>
    <p:sldLayoutId id="2147483665" r:id="rId17"/>
    <p:sldLayoutId id="2147483664" r:id="rId18"/>
    <p:sldLayoutId id="2147483669" r:id="rId19"/>
    <p:sldLayoutId id="2147483668" r:id="rId20"/>
    <p:sldLayoutId id="2147483670" r:id="rId21"/>
    <p:sldLayoutId id="2147483661" r:id="rId22"/>
    <p:sldLayoutId id="2147483662" r:id="rId23"/>
    <p:sldLayoutId id="2147483671" r:id="rId24"/>
    <p:sldLayoutId id="2147483672" r:id="rId2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79388" indent="-179388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57188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36575" indent="-179388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15963" indent="-17462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Verdana" panose="020B0604030504040204" pitchFamily="34" charset="0"/>
        <a:buChar char="–"/>
        <a:defRPr sz="1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594" userDrawn="1">
          <p15:clr>
            <a:srgbClr val="F26B43"/>
          </p15:clr>
        </p15:guide>
        <p15:guide id="2" pos="7499" userDrawn="1">
          <p15:clr>
            <a:srgbClr val="F26B43"/>
          </p15:clr>
        </p15:guide>
        <p15:guide id="3" orient="horz" pos="4140" userDrawn="1">
          <p15:clr>
            <a:srgbClr val="F26B43"/>
          </p15:clr>
        </p15:guide>
        <p15:guide id="4" orient="horz" pos="3963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pos="619" userDrawn="1">
          <p15:clr>
            <a:srgbClr val="F26B43"/>
          </p15:clr>
        </p15:guide>
        <p15:guide id="7" orient="horz" pos="182" userDrawn="1">
          <p15:clr>
            <a:srgbClr val="F26B43"/>
          </p15:clr>
        </p15:guide>
        <p15:guide id="8" orient="horz" pos="595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0" orient="horz" pos="4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hyperlink" Target="https://ardianet.sharepoint.com/sites/GRP-Branding/SitePages/Media.aspx" TargetMode="Externa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077512" y="1237582"/>
            <a:ext cx="9114487" cy="198649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Mockito</a:t>
            </a:r>
          </a:p>
        </p:txBody>
      </p:sp>
      <p:pic>
        <p:nvPicPr>
          <p:cNvPr id="17" name="Picture Placeholder 16" descr="A group of people working on laptops&#10;&#10;Description automatically generated with medium confidence">
            <a:extLst>
              <a:ext uri="{FF2B5EF4-FFF2-40B4-BE49-F238E27FC236}">
                <a16:creationId xmlns:a16="http://schemas.microsoft.com/office/drawing/2014/main" id="{344EB046-BC15-497B-8EC5-695DD8C4B6D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9" r="16309"/>
          <a:stretch/>
        </p:blipFill>
        <p:spPr>
          <a:xfrm>
            <a:off x="-6350" y="769"/>
            <a:ext cx="3083863" cy="6856462"/>
          </a:xfrm>
          <a:noFill/>
        </p:spPr>
      </p:pic>
    </p:spTree>
    <p:extLst>
      <p:ext uri="{BB962C8B-B14F-4D97-AF65-F5344CB8AC3E}">
        <p14:creationId xmlns:p14="http://schemas.microsoft.com/office/powerpoint/2010/main" val="370239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B4D65E-83AE-68C8-23FE-44657FC5F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/>
              <a:t>Contents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CC04C6-251A-6B31-5FE2-9E2055F290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AC6DD-21F1-DA09-6D02-EA1CEB774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err="1"/>
              <a:t>Mockito</a:t>
            </a:r>
            <a:r>
              <a:rPr lang="en-US" dirty="0"/>
              <a:t> - Testing Framework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59FB3-F5D1-D7B2-45BC-7000E345A4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 Introduction to Mockito</a:t>
            </a:r>
          </a:p>
          <a:p>
            <a:pPr>
              <a:lnSpc>
                <a:spcPct val="200000"/>
              </a:lnSpc>
            </a:pPr>
            <a:r>
              <a:rPr lang="en-US" dirty="0"/>
              <a:t> Setting up Mockito</a:t>
            </a:r>
          </a:p>
          <a:p>
            <a:pPr>
              <a:lnSpc>
                <a:spcPct val="200000"/>
              </a:lnSpc>
            </a:pPr>
            <a:r>
              <a:rPr lang="en-US" dirty="0"/>
              <a:t> Core Concepts</a:t>
            </a:r>
          </a:p>
          <a:p>
            <a:pPr>
              <a:lnSpc>
                <a:spcPct val="200000"/>
              </a:lnSpc>
            </a:pPr>
            <a:r>
              <a:rPr lang="en-US" dirty="0"/>
              <a:t> Common Mockito Operations</a:t>
            </a:r>
          </a:p>
          <a:p>
            <a:pPr>
              <a:lnSpc>
                <a:spcPct val="200000"/>
              </a:lnSpc>
            </a:pPr>
            <a:r>
              <a:rPr lang="en-US" dirty="0"/>
              <a:t> Advanced Features</a:t>
            </a:r>
          </a:p>
          <a:p>
            <a:pPr>
              <a:lnSpc>
                <a:spcPct val="200000"/>
              </a:lnSpc>
            </a:pPr>
            <a:r>
              <a:rPr lang="en-US" dirty="0"/>
              <a:t> Hands - 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C6E0B5-79CD-C2DE-2A69-F0254C1D9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762" y="2110652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8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0B5AD5-8243-3E3D-BE0A-8B1F419B04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Mocking creates  </a:t>
            </a:r>
            <a:r>
              <a:rPr lang="en-US" sz="1800" dirty="0"/>
              <a:t>simulated version of an object or component </a:t>
            </a:r>
            <a:r>
              <a:rPr lang="en-US" sz="1800" b="0" dirty="0"/>
              <a:t>to </a:t>
            </a:r>
            <a:r>
              <a:rPr lang="en-US" sz="1800" dirty="0"/>
              <a:t>mimic its behavior </a:t>
            </a:r>
            <a:r>
              <a:rPr lang="en-US" sz="1800" b="0" dirty="0"/>
              <a:t>during testing.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Isolate the code under test </a:t>
            </a:r>
            <a:r>
              <a:rPr lang="en-US" sz="1800" b="0" dirty="0"/>
              <a:t>by replacing its </a:t>
            </a:r>
            <a:r>
              <a:rPr lang="en-US" sz="1800" dirty="0"/>
              <a:t>real dependencies with mock objects</a:t>
            </a:r>
            <a:r>
              <a:rPr lang="en-US" sz="1800" b="0" dirty="0"/>
              <a:t>, which can be controlled to return specific outputs or mimic particular behaviors.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Ensures that the </a:t>
            </a:r>
            <a:r>
              <a:rPr lang="en-US" sz="1800" dirty="0"/>
              <a:t>tests focus </a:t>
            </a:r>
            <a:r>
              <a:rPr lang="en-US" sz="1800" b="0" dirty="0"/>
              <a:t>solely on the </a:t>
            </a:r>
            <a:r>
              <a:rPr lang="en-US" sz="1800" dirty="0"/>
              <a:t>functionality of the code being tested</a:t>
            </a:r>
            <a:r>
              <a:rPr lang="en-US" sz="1800" b="0" dirty="0"/>
              <a:t>, without </a:t>
            </a:r>
            <a:r>
              <a:rPr lang="en-US" sz="1800" dirty="0"/>
              <a:t>interference from external systems or dependencies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b="0" dirty="0"/>
              <a:t>Many mocking frameworks </a:t>
            </a:r>
            <a:r>
              <a:rPr lang="en-US" sz="1800" dirty="0"/>
              <a:t>exist in Java</a:t>
            </a:r>
            <a:r>
              <a:rPr lang="en-US" sz="1800" b="0" dirty="0"/>
              <a:t>, but </a:t>
            </a:r>
            <a:r>
              <a:rPr lang="en-US" sz="1800" dirty="0"/>
              <a:t>Mockito</a:t>
            </a:r>
            <a:r>
              <a:rPr lang="en-US" sz="1800" b="0" dirty="0"/>
              <a:t> is the most </a:t>
            </a:r>
            <a:r>
              <a:rPr lang="en-US" sz="1800" dirty="0"/>
              <a:t>popular.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31FD8-78FC-A15E-BC4C-9F9CF3C23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Introduction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C38C72-C47B-1502-B35C-970D71E8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Mocking?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67428-DCA0-6CB1-B11B-498BD1E10A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B2454-DE82-ED3E-24A3-CA4CA2E51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1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CFBE-21FF-14B0-5769-B4EB0133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86AD23-0F6C-9B40-5320-B42A404E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marR="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Isolate the Unit Under Test (UUT):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Ensures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tests focus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 of the unit itself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excluding external dependencies.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Dependencies: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Simulates interactions with external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databases, APIs), allowing precise control over their behavior.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Test Execution: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Replaces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slow or resource-heavy dependencies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lightweight mocks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speeding up test runs.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58CB1-AAB6-F70B-5F97-60E220E399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Introduction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DCBD22-1CAF-A2A2-6348-A04FC52F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Mocking?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5350E-184C-328D-6401-D403BA9D9A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A40CD-2C29-7AE8-A86D-69056F9B9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15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3566-A5CF-11CB-B493-BA9EA475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29E3E1-1EAF-0B39-F853-B5F1D92921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dirty="0"/>
              <a:t>Mockito is a popular </a:t>
            </a:r>
            <a:r>
              <a:rPr lang="en-US" sz="2000" dirty="0"/>
              <a:t>Java-based mocking framework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 enables to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tests using a clean and simple API.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Released as an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open-source testing framework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MIT (Massachusetts Institute of Technology) License.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 Reflection API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generate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mock objects for specific interfaces.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mock object 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dummy implementation for an interface or a class 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which you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the output of certain method calls.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4A34-F9A2-3B9F-0724-78EFA580D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Introduction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E6F5B6-B988-0D5B-6E62-DA453003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Mockito?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715EA-505C-9658-09B3-44AB2316AD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9D6DA-FE43-18BD-78F5-DB200218B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9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2366-5DBE-F92A-CBDA-CCA50A8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B617FA-33A6-55C0-638C-6D7C1425D6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marR="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primary purpose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Mockito is to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simplify test development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mocking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external dependencies.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Mockito can be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other testing frameworks like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JUnit 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F9231-82D5-E9A4-71A9-C870C7F9EC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Introduction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A29DCB-B661-0062-350F-3D52B2B0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Mockito?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B82B5-BAD4-381B-19B0-A2101BB2C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6A7B8-2F00-FD7A-ED89-9B6389B5C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30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5023-AC7B-704B-FF35-144A1AE7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7A5E9A-C3FF-0A67-37B6-7B8A39E7D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Mockito in your project with Maven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>
              <a:lnSpc>
                <a:spcPct val="150000"/>
              </a:lnSpc>
              <a:spcAft>
                <a:spcPts val="800"/>
              </a:spcAft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&lt;dependency&gt;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>
              <a:lnSpc>
                <a:spcPct val="150000"/>
              </a:lnSpc>
              <a:spcAft>
                <a:spcPts val="800"/>
              </a:spcAft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groupId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org.mockito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groupId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>
              <a:lnSpc>
                <a:spcPct val="150000"/>
              </a:lnSpc>
              <a:spcAft>
                <a:spcPts val="800"/>
              </a:spcAft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artifactId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mockito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-core&lt;/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artifactId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>
              <a:lnSpc>
                <a:spcPct val="150000"/>
              </a:lnSpc>
              <a:spcAft>
                <a:spcPts val="800"/>
              </a:spcAft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&lt;version&gt;5.14.2&lt;/version&gt;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>
              <a:lnSpc>
                <a:spcPct val="150000"/>
              </a:lnSpc>
            </a:pPr>
            <a:r>
              <a:rPr lang="en-IN" sz="1800" b="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&lt;scope&gt;test&lt;/scope</a:t>
            </a:r>
          </a:p>
          <a:p>
            <a:pPr marL="747713">
              <a:lnSpc>
                <a:spcPct val="150000"/>
              </a:lnSpc>
            </a:pPr>
            <a:r>
              <a:rPr lang="en-IN" sz="1800" b="0" dirty="0"/>
              <a:t>&lt;dependency&gt;</a:t>
            </a: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29E94-7B3D-6334-2682-11313516A6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Setting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2246DA-97A0-2275-BF7A-9D619777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Mockito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D1A83-4F10-DC9A-8E2D-A06BC85774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5CFB9-6977-20C1-DDC2-797A46FA1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937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C9E2-9E9D-8057-03F2-57A38210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FAE9EB-3C1A-06D5-D5B5-2159AEDA14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mock objects in testing, it is essential to understand the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 key concepts of mocking: mocks, stubs, and spies.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Collectively, these are referred to as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Doubles.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Mocks:</a:t>
            </a:r>
          </a:p>
          <a:p>
            <a:pPr marL="747713" marR="0" lvl="0" indent="-2905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mock is used to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simulate real object behavior in tests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 lvl="0" indent="-2905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expectations for method calls and verify if they are met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 lvl="0" indent="-2905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Don't execute real method logic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simulate behavior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defined in tests.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 lvl="0" indent="-290513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Useful for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isolating the unit under test from its dependencies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E733E-92F4-1AFE-96DE-5F18FABC3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Core Concepts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2F7C52-DCCB-C6DE-3ECA-BDB069A8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Mocks, Stub and Spies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80D18-867D-82F4-AA4F-677AFE12B4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5BFA5-FA7A-B3D7-B918-AD95A1CD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1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3BC22-47F0-3181-E46C-FAEF3CE05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34EBFC-E671-27EB-6060-2802FBBA4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Stub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3413" marR="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stub is a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pre-programmed object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 provides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predefined responses to method calls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3413" marR="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doesn’t contain any logic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its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 is hardcoded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specific scenarios.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3413" marR="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 to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the behavior of a dependency </a:t>
            </a:r>
            <a:r>
              <a:rPr lang="en-US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test.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57DE4-66DA-892A-7015-850958B00E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Core Concepts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372080-F396-8B03-2553-7B082437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Mocks, Stub and Spies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6FB9D-0482-831F-6C20-47CA2C1DCD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E5E3D-F4FA-1248-51AD-3C3DB7B2F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10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F388-A651-7C6E-2A41-D87C26B1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998B48-1C4A-5CB5-1D05-4578A5E622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Spies: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Spy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monitors the behavior of real objects </a:t>
            </a: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tests.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 lvl="0" indent="-342900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Unlike mocks, which define expectations,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spies allow partial mocking</a:t>
            </a: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executing real logic while tracking specific methods.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7713" marR="0" lvl="0" indent="-342900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when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partial mocking is needed without compromising</a:t>
            </a: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execution of real logic</a:t>
            </a:r>
            <a:r>
              <a:rPr lang="en-US" sz="1800" b="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1D0A5-F316-3B87-6D49-46ECDFB01E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Core Concepts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7DF906-A889-2209-3147-E82270C6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Mocks, Stub and Spies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1370C-1F86-F6E8-99CC-3E400907AF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58314-AE6F-83D8-B707-2A43E5F77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Framework </a:t>
            </a:r>
          </a:p>
        </p:txBody>
      </p:sp>
    </p:spTree>
    <p:extLst>
      <p:ext uri="{BB962C8B-B14F-4D97-AF65-F5344CB8AC3E}">
        <p14:creationId xmlns:p14="http://schemas.microsoft.com/office/powerpoint/2010/main" val="230004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0227-ECC5-976F-3ADC-26638669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82F589-D49F-B3F1-EFD4-2F2B4CFB4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 @Mock             : </a:t>
            </a:r>
            <a:r>
              <a:rPr lang="en-US" sz="1800" b="0" dirty="0"/>
              <a:t>Creates mock objects for dependencies.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  @Spy               : </a:t>
            </a:r>
            <a:r>
              <a:rPr lang="en-US" sz="1800" b="0" dirty="0"/>
              <a:t>Creates partial mocks for real objects.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  @InjectMocks : </a:t>
            </a:r>
            <a:r>
              <a:rPr lang="en-US" sz="1800" b="0" dirty="0"/>
              <a:t>Automatically injects mock dependencies into the tested class.</a:t>
            </a:r>
          </a:p>
          <a:p>
            <a:pPr>
              <a:lnSpc>
                <a:spcPct val="200000"/>
              </a:lnSpc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1FB0-BDEF-40A4-06C7-970366744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Core Concepts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243BE5-D7DA-0409-9CD0-BD210BA9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 Annotations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3AAE9-1063-27CB-9E9F-A95F95B1CE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2F4D9-E898-DF16-107C-76D3B951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197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3AA0-FDCF-427E-191F-4954B0B8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966E7A-3677-E53A-579F-8BFD5CE8DB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457200" marR="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&lt;T&gt;mock(Class&lt;T&gt; </a:t>
            </a:r>
            <a:r>
              <a:rPr lang="en-IN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classToMock</a:t>
            </a:r>
            <a:r>
              <a:rPr lang="en-IN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50875" lvl="4" indent="0">
              <a:lnSpc>
                <a:spcPct val="200000"/>
              </a:lnSpc>
              <a:buNone/>
            </a:pPr>
            <a:r>
              <a:rPr lang="en-IN" sz="1600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   a. Creates a mock object of the specified class. This mock will simulate the </a:t>
            </a:r>
            <a:r>
              <a:rPr lang="en-IN" sz="1600" kern="100" dirty="0" err="1">
                <a:solidFill>
                  <a:schemeClr val="tx1"/>
                </a:solidFill>
                <a:cs typeface="Times New Roman" panose="02020603050405020304" pitchFamily="18" charset="0"/>
              </a:rPr>
              <a:t>behavior</a:t>
            </a:r>
            <a:r>
              <a:rPr lang="en-IN" sz="1600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 of the class during tests.</a:t>
            </a:r>
            <a:endParaRPr lang="en-US" sz="1600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50875" lvl="4" indent="0">
              <a:lnSpc>
                <a:spcPct val="200000"/>
              </a:lnSpc>
              <a:buNone/>
            </a:pPr>
            <a:r>
              <a:rPr lang="en-IN" sz="1600" b="1" kern="100" dirty="0">
                <a:cs typeface="Times New Roman" panose="02020603050405020304" pitchFamily="18" charset="0"/>
              </a:rPr>
              <a:t>       Example : </a:t>
            </a:r>
            <a:r>
              <a:rPr lang="en-IN" sz="1600" kern="100" dirty="0">
                <a:cs typeface="Times New Roman" panose="02020603050405020304" pitchFamily="18" charset="0"/>
              </a:rPr>
              <a:t>       </a:t>
            </a:r>
            <a:r>
              <a:rPr lang="en-IN" sz="1600" b="1" kern="100" dirty="0" err="1">
                <a:cs typeface="Times New Roman" panose="02020603050405020304" pitchFamily="18" charset="0"/>
              </a:rPr>
              <a:t>MyClass</a:t>
            </a:r>
            <a:r>
              <a:rPr lang="en-IN" sz="1600" b="1" kern="100" dirty="0">
                <a:cs typeface="Times New Roman" panose="02020603050405020304" pitchFamily="18" charset="0"/>
              </a:rPr>
              <a:t> </a:t>
            </a:r>
            <a:r>
              <a:rPr lang="en-IN" sz="1600" b="1" kern="100" dirty="0" err="1">
                <a:cs typeface="Times New Roman" panose="02020603050405020304" pitchFamily="18" charset="0"/>
              </a:rPr>
              <a:t>mockObject</a:t>
            </a:r>
            <a:r>
              <a:rPr lang="en-IN" sz="1600" b="1" kern="100" dirty="0">
                <a:cs typeface="Times New Roman" panose="02020603050405020304" pitchFamily="18" charset="0"/>
              </a:rPr>
              <a:t> = mock(</a:t>
            </a:r>
            <a:r>
              <a:rPr lang="en-IN" sz="1600" b="1" kern="100" dirty="0" err="1">
                <a:cs typeface="Times New Roman" panose="02020603050405020304" pitchFamily="18" charset="0"/>
              </a:rPr>
              <a:t>MyClass.class</a:t>
            </a:r>
            <a:r>
              <a:rPr lang="en-IN" sz="1600" b="1" kern="100" dirty="0">
                <a:cs typeface="Times New Roman" panose="02020603050405020304" pitchFamily="18" charset="0"/>
              </a:rPr>
              <a:t>);</a:t>
            </a:r>
            <a:endParaRPr lang="en-US" sz="1600" b="1" kern="100" dirty="0">
              <a:cs typeface="Times New Roman" panose="02020603050405020304" pitchFamily="18" charset="0"/>
            </a:endParaRPr>
          </a:p>
          <a:p>
            <a:pPr marL="114300" marR="0">
              <a:lnSpc>
                <a:spcPct val="200000"/>
              </a:lnSpc>
            </a:pPr>
            <a:r>
              <a:rPr lang="en-IN" sz="16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.    </a:t>
            </a:r>
            <a:r>
              <a:rPr lang="en-IN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&lt;T&gt; when(T </a:t>
            </a:r>
            <a:r>
              <a:rPr lang="en-IN" sz="1800" b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methodCall</a:t>
            </a:r>
            <a:r>
              <a:rPr lang="en-IN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>
              <a:lnSpc>
                <a:spcPct val="200000"/>
              </a:lnSpc>
            </a:pPr>
            <a:r>
              <a:rPr lang="en-IN" sz="16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a. It enables stubbing </a:t>
            </a:r>
            <a:r>
              <a:rPr lang="en-IN" sz="16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methods.Specifies</a:t>
            </a:r>
            <a:r>
              <a:rPr lang="en-IN" sz="16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IN" sz="16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6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a mock when a particular method is called on it. </a:t>
            </a:r>
          </a:p>
          <a:p>
            <a:pPr marL="114300" marR="0">
              <a:lnSpc>
                <a:spcPct val="200000"/>
              </a:lnSpc>
            </a:pPr>
            <a:r>
              <a:rPr lang="en-IN" sz="1600" b="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           b. </a:t>
            </a:r>
            <a:r>
              <a:rPr lang="en-IN" sz="16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thenReturn</a:t>
            </a:r>
            <a:r>
              <a:rPr lang="en-IN" sz="16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 is mostly used with the when() method.</a:t>
            </a:r>
            <a:endParaRPr lang="en-US" sz="16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>
              <a:lnSpc>
                <a:spcPct val="200000"/>
              </a:lnSpc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Example :</a:t>
            </a:r>
            <a:r>
              <a:rPr lang="en-IN" sz="16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when(</a:t>
            </a:r>
            <a:r>
              <a:rPr lang="en-IN" sz="16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mockObject.someMethod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()).</a:t>
            </a:r>
            <a:r>
              <a:rPr lang="en-IN" sz="16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thenReturn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("Mocked response");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EC662-5ACD-D9D4-AA1F-73805B7FE2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315E60-A1BE-51F1-E7CD-28CA5342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Mockito 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A85CD-7A00-86DC-55A6-9008175B8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B10BE-58FC-1B48-8883-FDE0CEB1C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21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FE28-3CA9-2782-5F13-9D445ABBB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F6CEAB-0C9E-7478-65B4-33F4E56CD3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114300" marR="0">
              <a:lnSpc>
                <a:spcPct val="200000"/>
              </a:lnSpc>
            </a:pPr>
            <a:r>
              <a:rPr lang="en-IN" sz="16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  &lt;T&gt; verify(T mock)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>
              <a:lnSpc>
                <a:spcPct val="200000"/>
              </a:lnSpc>
            </a:pPr>
            <a:r>
              <a:rPr lang="en-IN" sz="16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a. Verifies that a specific method was called on the mock object with the expected parameters.</a:t>
            </a:r>
            <a:endParaRPr lang="en-US" sz="16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>
              <a:lnSpc>
                <a:spcPct val="200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Example : verify(</a:t>
            </a:r>
            <a:r>
              <a:rPr lang="en-IN" sz="16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mockObject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en-IN" sz="16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someMethod</a:t>
            </a:r>
            <a:r>
              <a:rPr lang="en-IN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 marL="114300" marR="0">
              <a:lnSpc>
                <a:spcPct val="200000"/>
              </a:lnSpc>
              <a:spcAft>
                <a:spcPts val="800"/>
              </a:spcAft>
            </a:pPr>
            <a:r>
              <a:rPr lang="en-IN" sz="16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.   &lt;</a:t>
            </a:r>
            <a:r>
              <a:rPr lang="en-IN" sz="1800" kern="100" dirty="0">
                <a:cs typeface="Times New Roman" panose="02020603050405020304" pitchFamily="18" charset="0"/>
              </a:rPr>
              <a:t>T&gt; spy(Object </a:t>
            </a:r>
            <a:r>
              <a:rPr lang="en-IN" sz="1800" kern="100" dirty="0" err="1">
                <a:cs typeface="Times New Roman" panose="02020603050405020304" pitchFamily="18" charset="0"/>
              </a:rPr>
              <a:t>objectToSpy</a:t>
            </a:r>
            <a:r>
              <a:rPr lang="en-IN" sz="1800" kern="100" dirty="0">
                <a:cs typeface="Times New Roman" panose="02020603050405020304" pitchFamily="18" charset="0"/>
              </a:rPr>
              <a:t>):</a:t>
            </a:r>
            <a:r>
              <a:rPr lang="en-IN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6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a. </a:t>
            </a:r>
            <a:r>
              <a:rPr lang="en-IN" sz="1600" b="0" kern="100" dirty="0">
                <a:cs typeface="Times New Roman" panose="02020603050405020304" pitchFamily="18" charset="0"/>
              </a:rPr>
              <a:t>Creates a spy of the real object to track method calls while allowing the real methods to be executed</a:t>
            </a:r>
            <a:endParaRPr lang="en-US" sz="1600" b="0" kern="100" dirty="0">
              <a:cs typeface="Times New Roman" panose="02020603050405020304" pitchFamily="18" charset="0"/>
            </a:endParaRPr>
          </a:p>
          <a:p>
            <a:pPr marL="228600" marR="0">
              <a:lnSpc>
                <a:spcPct val="200000"/>
              </a:lnSpc>
            </a:pPr>
            <a:r>
              <a:rPr lang="en-IN" sz="1600" kern="100" dirty="0">
                <a:cs typeface="Times New Roman" panose="02020603050405020304" pitchFamily="18" charset="0"/>
              </a:rPr>
              <a:t>         Example : </a:t>
            </a:r>
            <a:r>
              <a:rPr lang="en-IN" sz="1600" kern="100" dirty="0" err="1">
                <a:cs typeface="Times New Roman" panose="02020603050405020304" pitchFamily="18" charset="0"/>
              </a:rPr>
              <a:t>MyClass</a:t>
            </a:r>
            <a:r>
              <a:rPr lang="en-IN" sz="1600" kern="100" dirty="0">
                <a:cs typeface="Times New Roman" panose="02020603050405020304" pitchFamily="18" charset="0"/>
              </a:rPr>
              <a:t> </a:t>
            </a:r>
            <a:r>
              <a:rPr lang="en-IN" sz="1600" kern="100" dirty="0" err="1">
                <a:cs typeface="Times New Roman" panose="02020603050405020304" pitchFamily="18" charset="0"/>
              </a:rPr>
              <a:t>spyObject</a:t>
            </a:r>
            <a:r>
              <a:rPr lang="en-IN" sz="1600" kern="100" dirty="0">
                <a:cs typeface="Times New Roman" panose="02020603050405020304" pitchFamily="18" charset="0"/>
              </a:rPr>
              <a:t> = spy(new </a:t>
            </a:r>
            <a:r>
              <a:rPr lang="en-IN" sz="1600" kern="100" dirty="0" err="1">
                <a:cs typeface="Times New Roman" panose="02020603050405020304" pitchFamily="18" charset="0"/>
              </a:rPr>
              <a:t>MyClass</a:t>
            </a:r>
            <a:r>
              <a:rPr lang="en-IN" sz="1600" kern="100" dirty="0">
                <a:cs typeface="Times New Roman" panose="02020603050405020304" pitchFamily="18" charset="0"/>
              </a:rPr>
              <a:t>());</a:t>
            </a:r>
            <a:endParaRPr lang="en-US" sz="1600" kern="100" dirty="0">
              <a:cs typeface="Times New Roman" panose="02020603050405020304" pitchFamily="18" charset="0"/>
            </a:endParaRPr>
          </a:p>
          <a:p>
            <a:pPr marL="114300" marR="0">
              <a:lnSpc>
                <a:spcPct val="200000"/>
              </a:lnSpc>
              <a:spcAft>
                <a:spcPts val="800"/>
              </a:spcAft>
            </a:pPr>
            <a:endParaRPr lang="en-US" sz="1600" kern="100" dirty="0"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0F35E-EF01-7395-CF35-466388D951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Mockito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9A3EDC-33E8-B0BD-7603-4E15976F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Mockito 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A8689-7281-E807-8094-5B4E0C7BF0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48831-5DF3-222A-3387-2D3DC3432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Framework </a:t>
            </a:r>
          </a:p>
        </p:txBody>
      </p:sp>
    </p:spTree>
    <p:extLst>
      <p:ext uri="{BB962C8B-B14F-4D97-AF65-F5344CB8AC3E}">
        <p14:creationId xmlns:p14="http://schemas.microsoft.com/office/powerpoint/2010/main" val="2425320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9CAE-14F7-5AFC-EF07-EBD25DE9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291BE1-EE58-57BA-1E65-CDFC46B1B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514350" marR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Argument matchers in Mockito are used to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specify flexible conditions for method arguments 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defining </a:t>
            </a:r>
            <a:r>
              <a:rPr lang="en-IN" sz="1800" b="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behaviors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verifying method calls. </a:t>
            </a:r>
            <a:endParaRPr lang="en-US" sz="1800" b="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marR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allow </a:t>
            </a: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tests to be more general and accommodate </a:t>
            </a:r>
            <a:r>
              <a:rPr lang="en-IN" sz="1800" b="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various types of input.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8024-9AC8-5378-D56A-FCE180CDFE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Advance Features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3DFB88-3160-6BED-A5E5-66569F50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Matchers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F3A5B-004F-038E-AE94-A2A4B87ABC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313FA-8CE7-B4D5-B11E-C75032B5C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61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B0C6-3321-C95E-6F76-2C6AB749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F968EB-C3EF-229E-E8F5-BD53F5A460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sz="18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E081C-AA11-6D99-8D72-BDD7BEA309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Advance Features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E71F61-ED03-3BB0-6519-EC3C1220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Matchers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4F6B4-BDD2-BEA7-FF93-BB0864411E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ACFF2-2F82-F9D5-6A78-8F484C0E5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Mockito - Testing </a:t>
            </a:r>
            <a:r>
              <a:rPr lang="en-US" dirty="0" smtClean="0"/>
              <a:t>Framework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365D3A-6864-9C0C-29BE-340673D85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69524"/>
              </p:ext>
            </p:extLst>
          </p:nvPr>
        </p:nvGraphicFramePr>
        <p:xfrm>
          <a:off x="989012" y="1439807"/>
          <a:ext cx="10659198" cy="445202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723015">
                  <a:extLst>
                    <a:ext uri="{9D8B030D-6E8A-4147-A177-3AD203B41FA5}">
                      <a16:colId xmlns:a16="http://schemas.microsoft.com/office/drawing/2014/main" val="577510355"/>
                    </a:ext>
                  </a:extLst>
                </a:gridCol>
                <a:gridCol w="4208318">
                  <a:extLst>
                    <a:ext uri="{9D8B030D-6E8A-4147-A177-3AD203B41FA5}">
                      <a16:colId xmlns:a16="http://schemas.microsoft.com/office/drawing/2014/main" val="3764873997"/>
                    </a:ext>
                  </a:extLst>
                </a:gridCol>
                <a:gridCol w="4727865">
                  <a:extLst>
                    <a:ext uri="{9D8B030D-6E8A-4147-A177-3AD203B41FA5}">
                      <a16:colId xmlns:a16="http://schemas.microsoft.com/office/drawing/2014/main" val="521051750"/>
                    </a:ext>
                  </a:extLst>
                </a:gridCol>
              </a:tblGrid>
              <a:tr h="39818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3881040"/>
                  </a:ext>
                </a:extLst>
              </a:tr>
              <a:tr h="39818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anyString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Matches any String value 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mockObject.someMethod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anyString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())).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("Mocked response");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800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anyInt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Matches any int value.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mock.method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anyInt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())).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("value");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230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eq(value)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Matches if the argument equals the specified value.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mock.method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(eq("test"))).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("value");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9499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isA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(Class&lt;T&gt; class)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Matches arguments that are instances of a specific class or subclass.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mockObject.someMethod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isA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String.class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))).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("Mocked response");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0309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anyOf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 and 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allOf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These are used when matching an argument based on a set of conditions.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mockObject.someMethod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anyOf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eq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("Test"), 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eq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("Example")))).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("Mocked response");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6785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notNull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Matches non-null arguments.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mockObject.someMethod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notNull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())).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("Mocked response");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9376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same()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Matches arguments that refer to the same object in memory (i.e., reference equality).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when(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mockObject.someMethod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(same(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someObject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))).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thenReturn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("Mocked response");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24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14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8D53-3689-B49D-2A60-F1034731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8739660-1A2A-C958-FBB9-54A34116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67996"/>
            <a:ext cx="6492725" cy="1379688"/>
          </a:xfrm>
        </p:spPr>
        <p:txBody>
          <a:bodyPr anchor="ctr"/>
          <a:lstStyle/>
          <a:p>
            <a:pPr algn="ctr"/>
            <a:r>
              <a:rPr lang="en-US" dirty="0"/>
              <a:t>Hands-on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782CDA7-5A43-75B5-BBD2-A35BD367E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89012" y="6291263"/>
            <a:ext cx="8561387" cy="280987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Mockito</a:t>
            </a:r>
            <a:r>
              <a:rPr lang="en-US" dirty="0">
                <a:solidFill>
                  <a:schemeClr val="bg1"/>
                </a:solidFill>
              </a:rPr>
              <a:t> - Testing </a:t>
            </a:r>
            <a:r>
              <a:rPr lang="en-US" dirty="0" smtClean="0">
                <a:solidFill>
                  <a:schemeClr val="bg1"/>
                </a:solidFill>
              </a:rPr>
              <a:t>Framework</a:t>
            </a:r>
            <a:endParaRPr lang="en-US" dirty="0">
              <a:solidFill>
                <a:schemeClr val="bg1">
                  <a:lumMod val="50000"/>
                </a:schemeClr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48FABDA-7BF8-E691-BCD4-96223B7B5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F315-FA4E-4084-ACCF-A94C350B883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91F573C-A437-7BE9-2692-3A30F65CE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4204" y="6150537"/>
            <a:ext cx="1706923" cy="562351"/>
          </a:xfrm>
          <a:prstGeom prst="rect">
            <a:avLst/>
          </a:prstGeom>
        </p:spPr>
      </p:pic>
      <p:sp>
        <p:nvSpPr>
          <p:cNvPr id="10" name="Textfeld 5">
            <a:extLst>
              <a:ext uri="{FF2B5EF4-FFF2-40B4-BE49-F238E27FC236}">
                <a16:creationId xmlns:a16="http://schemas.microsoft.com/office/drawing/2014/main" id="{5237696F-8C6D-FD8E-DCB0-694163D64AC5}"/>
              </a:ext>
            </a:extLst>
          </p:cNvPr>
          <p:cNvSpPr txBox="1"/>
          <p:nvPr/>
        </p:nvSpPr>
        <p:spPr>
          <a:xfrm>
            <a:off x="8057630" y="3913317"/>
            <a:ext cx="2569464" cy="653238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Please download pictures in suitable size </a:t>
            </a:r>
            <a:r>
              <a:rPr lang="en-GB" sz="1100" u="sng" dirty="0">
                <a:solidFill>
                  <a:schemeClr val="bg1"/>
                </a:solidFill>
                <a:hlinkClick r:id="rId5"/>
              </a:rPr>
              <a:t>here</a:t>
            </a:r>
            <a:r>
              <a:rPr lang="en-GB" sz="1100" dirty="0">
                <a:solidFill>
                  <a:schemeClr val="bg1"/>
                </a:solidFill>
              </a:rPr>
              <a:t> and insert them by clicking the symbol above.</a:t>
            </a:r>
          </a:p>
        </p:txBody>
      </p:sp>
      <p:pic>
        <p:nvPicPr>
          <p:cNvPr id="26" name="Picture Placeholder 25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DFD1562C-9E49-B084-DC5B-C82AC4D8179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98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4473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Newco_Master_2019">
  <a:themeElements>
    <a:clrScheme name="Benutzerdefiniert 52">
      <a:dk1>
        <a:sysClr val="windowText" lastClr="000000"/>
      </a:dk1>
      <a:lt1>
        <a:srgbClr val="FFFFFF"/>
      </a:lt1>
      <a:dk2>
        <a:srgbClr val="404040"/>
      </a:dk2>
      <a:lt2>
        <a:srgbClr val="E2E2E2"/>
      </a:lt2>
      <a:accent1>
        <a:srgbClr val="6846C6"/>
      </a:accent1>
      <a:accent2>
        <a:srgbClr val="805CE5"/>
      </a:accent2>
      <a:accent3>
        <a:srgbClr val="23B3D9"/>
      </a:accent3>
      <a:accent4>
        <a:srgbClr val="4BCCB9"/>
      </a:accent4>
      <a:accent5>
        <a:srgbClr val="BC22BF"/>
      </a:accent5>
      <a:accent6>
        <a:srgbClr val="EC6F62"/>
      </a:accent6>
      <a:hlink>
        <a:srgbClr val="C2B5E8"/>
      </a:hlink>
      <a:folHlink>
        <a:srgbClr val="92E0D5"/>
      </a:folHlink>
    </a:clrScheme>
    <a:fontScheme name="Newco_Maste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1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88677643-4416-442D-84FA-09D129C65FED}" vid="{BBD83252-DE09-4ACF-83D0-3D31216BB30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Newco_Farben">
      <a:dk1>
        <a:sysClr val="windowText" lastClr="000000"/>
      </a:dk1>
      <a:lt1>
        <a:srgbClr val="FFFFFF"/>
      </a:lt1>
      <a:dk2>
        <a:srgbClr val="404040"/>
      </a:dk2>
      <a:lt2>
        <a:srgbClr val="E2E2E2"/>
      </a:lt2>
      <a:accent1>
        <a:srgbClr val="6846C6"/>
      </a:accent1>
      <a:accent2>
        <a:srgbClr val="805CE5"/>
      </a:accent2>
      <a:accent3>
        <a:srgbClr val="23B3D9"/>
      </a:accent3>
      <a:accent4>
        <a:srgbClr val="4BCCB9"/>
      </a:accent4>
      <a:accent5>
        <a:srgbClr val="BC22BF"/>
      </a:accent5>
      <a:accent6>
        <a:srgbClr val="EC6F62"/>
      </a:accent6>
      <a:hlink>
        <a:srgbClr val="6846C6"/>
      </a:hlink>
      <a:folHlink>
        <a:srgbClr val="23B3D9"/>
      </a:folHlink>
    </a:clrScheme>
    <a:fontScheme name="Benutzerdefiniert 39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866F6970D0494894EBDF34D6F444F4" ma:contentTypeVersion="15" ma:contentTypeDescription="Create a new document." ma:contentTypeScope="" ma:versionID="a27df6c28a3de93aa479a89eb269b8dd">
  <xsd:schema xmlns:xsd="http://www.w3.org/2001/XMLSchema" xmlns:xs="http://www.w3.org/2001/XMLSchema" xmlns:p="http://schemas.microsoft.com/office/2006/metadata/properties" xmlns:ns2="ffdbada3-dfd2-483a-b612-49c7a3457d17" targetNamespace="http://schemas.microsoft.com/office/2006/metadata/properties" ma:root="true" ma:fieldsID="abf902a511cc35adac181b94a37de348" ns2:_="">
    <xsd:import namespace="ffdbada3-dfd2-483a-b612-49c7a3457d17"/>
    <xsd:element name="properties">
      <xsd:complexType>
        <xsd:sequence>
          <xsd:element name="documentManagement">
            <xsd:complexType>
              <xsd:all>
                <xsd:element ref="ns2:Document_x0020_Type" minOccurs="0"/>
                <xsd:element ref="ns2:Purpose" minOccurs="0"/>
                <xsd:element ref="ns2:Language" minOccurs="0"/>
                <xsd:element ref="ns2:Industry" minOccurs="0"/>
                <xsd:element ref="ns2:Description0" minOccurs="0"/>
                <xsd:element ref="ns2:Author_x0020__x002f__x0020_Entity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bada3-dfd2-483a-b612-49c7a3457d17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8" nillable="true" ma:displayName="Document Type" ma:format="Dropdown" ma:internalName="Document_x0020_Type">
      <xsd:simpleType>
        <xsd:restriction base="dms:Choice">
          <xsd:enumeration value="Logo Package"/>
          <xsd:enumeration value="E-Mail Signature"/>
          <xsd:enumeration value="E-Mail Template"/>
          <xsd:enumeration value="E-Card"/>
          <xsd:enumeration value="Guideline"/>
          <xsd:enumeration value="Instruction"/>
          <xsd:enumeration value="Boilerplate"/>
          <xsd:enumeration value="PowerPoint Master"/>
          <xsd:enumeration value="PowerPoint Slide Deck"/>
          <xsd:enumeration value="Word Template"/>
          <xsd:enumeration value="Word Document"/>
          <xsd:enumeration value="Excel Template"/>
          <xsd:enumeration value="Letterhead"/>
          <xsd:enumeration value="Compliment Slip"/>
          <xsd:enumeration value="Brochure / Flyer"/>
          <xsd:enumeration value="Trend Report"/>
          <xsd:enumeration value="Poster"/>
          <xsd:enumeration value="Corporate Presentation"/>
          <xsd:enumeration value="Company Profile"/>
          <xsd:enumeration value="Client Case Study"/>
          <xsd:enumeration value="Client Case Study (anonymous)"/>
          <xsd:enumeration value="Desktop Wallpaper"/>
          <xsd:enumeration value="Social Profile Header"/>
          <xsd:enumeration value="Video/Animation"/>
          <xsd:enumeration value="Catalogue"/>
          <xsd:enumeration value="Order Form"/>
          <xsd:enumeration value="Background Picture"/>
          <xsd:enumeration value="Whitepaper"/>
        </xsd:restriction>
      </xsd:simpleType>
    </xsd:element>
    <xsd:element name="Purpose" ma:index="9" nillable="true" ma:displayName="Purpose" ma:format="Dropdown" ma:internalName="Purpo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rtwork"/>
                    <xsd:enumeration value="Template"/>
                    <xsd:enumeration value="Office Supplies"/>
                    <xsd:enumeration value="Give-aways"/>
                    <xsd:enumeration value="Background Knowledge"/>
                    <xsd:enumeration value="Internal-facing collateral"/>
                    <xsd:enumeration value="External-facing collateral"/>
                  </xsd:restriction>
                </xsd:simpleType>
              </xsd:element>
            </xsd:sequence>
          </xsd:extension>
        </xsd:complexContent>
      </xsd:complexType>
    </xsd:element>
    <xsd:element name="Language" ma:index="10" nillable="true" ma:displayName="Language" ma:format="Dropdown" ma:internalName="Languag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  <xsd:element name="Industry" ma:index="11" nillable="true" ma:displayName="Industry" ma:format="Dropdown" ma:internalName="Indust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 &amp; Defence"/>
                    <xsd:enumeration value="Automotive"/>
                    <xsd:enumeration value="Transportation"/>
                    <xsd:enumeration value="BFSI"/>
                    <xsd:enumeration value="Naval"/>
                    <xsd:enumeration value="Industrial"/>
                    <xsd:enumeration value="Healthcare"/>
                    <xsd:enumeration value="Energy &amp; Utilities"/>
                    <xsd:enumeration value="Public Sector"/>
                    <xsd:enumeration value="Retail &amp; Logistics"/>
                    <xsd:enumeration value="Telecom"/>
                    <xsd:enumeration value="Cross-Industries"/>
                  </xsd:restriction>
                </xsd:simpleType>
              </xsd:element>
            </xsd:sequence>
          </xsd:extension>
        </xsd:complexContent>
      </xsd:complexType>
    </xsd:element>
    <xsd:element name="Description0" ma:index="12" nillable="true" ma:displayName="Description" ma:internalName="Description0">
      <xsd:simpleType>
        <xsd:restriction base="dms:Note">
          <xsd:maxLength value="255"/>
        </xsd:restriction>
      </xsd:simpleType>
    </xsd:element>
    <xsd:element name="Author_x0020__x002f__x0020_Entity" ma:index="13" nillable="true" ma:displayName="Author / Entity" ma:internalName="Author_x0020__x002f__x0020_Entity">
      <xsd:simpleType>
        <xsd:restriction base="dms:Text">
          <xsd:maxLength value="255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ffdbada3-dfd2-483a-b612-49c7a3457d17" xsi:nil="true"/>
    <Author_x0020__x002f__x0020_Entity xmlns="ffdbada3-dfd2-483a-b612-49c7a3457d17" xsi:nil="true"/>
    <Purpose xmlns="ffdbada3-dfd2-483a-b612-49c7a3457d17">
      <Value>Template</Value>
    </Purpose>
    <Industry xmlns="ffdbada3-dfd2-483a-b612-49c7a3457d17"/>
    <Language xmlns="ffdbada3-dfd2-483a-b612-49c7a3457d17" xsi:nil="true"/>
    <Document_x0020_Type xmlns="ffdbada3-dfd2-483a-b612-49c7a3457d17">PowerPoint Master</Document_x0020_Type>
  </documentManagement>
</p:properties>
</file>

<file path=customXml/itemProps1.xml><?xml version="1.0" encoding="utf-8"?>
<ds:datastoreItem xmlns:ds="http://schemas.openxmlformats.org/officeDocument/2006/customXml" ds:itemID="{1BDE452E-FB48-464D-969A-606E9B145B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B77997-3B9C-4D25-997B-164046D290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bada3-dfd2-483a-b612-49c7a3457d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B602E3-AF99-41CC-8DE6-DF6DE3C02002}">
  <ds:schemaRefs>
    <ds:schemaRef ds:uri="http://purl.org/dc/dcmitype/"/>
    <ds:schemaRef ds:uri="http://www.w3.org/XML/1998/namespace"/>
    <ds:schemaRef ds:uri="ffdbada3-dfd2-483a-b612-49c7a3457d17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master for comprehensive contents</Template>
  <TotalTime>8416</TotalTime>
  <Words>926</Words>
  <Application>Microsoft Office PowerPoint</Application>
  <PresentationFormat>Widescreen</PresentationFormat>
  <Paragraphs>146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Segoe UI</vt:lpstr>
      <vt:lpstr>Symbol</vt:lpstr>
      <vt:lpstr>Times New Roman</vt:lpstr>
      <vt:lpstr>Verdana</vt:lpstr>
      <vt:lpstr>Newco_Master_2019</vt:lpstr>
      <vt:lpstr>Mockito</vt:lpstr>
      <vt:lpstr>PowerPoint Presentation</vt:lpstr>
      <vt:lpstr>What is Mocking?</vt:lpstr>
      <vt:lpstr>Need for Mocking?</vt:lpstr>
      <vt:lpstr>What is Mockito?</vt:lpstr>
      <vt:lpstr>What is Mockito?</vt:lpstr>
      <vt:lpstr>Setting up Mockito</vt:lpstr>
      <vt:lpstr>Mocks, Stub and Spies</vt:lpstr>
      <vt:lpstr>Mocks, Stub and Spies</vt:lpstr>
      <vt:lpstr>Mocks, Stub and Spies</vt:lpstr>
      <vt:lpstr>Mockito Annotations</vt:lpstr>
      <vt:lpstr>Common Mockito Operations</vt:lpstr>
      <vt:lpstr>Common Mockito Operations</vt:lpstr>
      <vt:lpstr>Argument Matchers</vt:lpstr>
      <vt:lpstr>Argument Matchers</vt:lpstr>
      <vt:lpstr>Hands-on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title, 42pt, bold max. 3 lines</dc:title>
  <dc:creator>smartcliff@montbleu.com</dc:creator>
  <cp:lastModifiedBy>Lenovo</cp:lastModifiedBy>
  <cp:revision>207</cp:revision>
  <dcterms:created xsi:type="dcterms:W3CDTF">2021-06-04T07:21:01Z</dcterms:created>
  <dcterms:modified xsi:type="dcterms:W3CDTF">2026-02-14T05:39:19Z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0x0101009C866F6970D0494894EBDF34D6F444F4</vt:lpwstr>
  </property>
</Properties>
</file>