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59" r:id="rId5"/>
    <p:sldId id="2154" r:id="rId6"/>
    <p:sldId id="281" r:id="rId7"/>
    <p:sldId id="2453" r:id="rId8"/>
    <p:sldId id="2546" r:id="rId9"/>
    <p:sldId id="2547" r:id="rId10"/>
    <p:sldId id="2548" r:id="rId11"/>
    <p:sldId id="2549" r:id="rId12"/>
    <p:sldId id="2550" r:id="rId13"/>
    <p:sldId id="2551" r:id="rId14"/>
    <p:sldId id="2552" r:id="rId15"/>
    <p:sldId id="2560" r:id="rId16"/>
    <p:sldId id="2561" r:id="rId17"/>
    <p:sldId id="2562" r:id="rId18"/>
    <p:sldId id="2563" r:id="rId19"/>
    <p:sldId id="2597" r:id="rId20"/>
    <p:sldId id="2565" r:id="rId21"/>
    <p:sldId id="2574" r:id="rId22"/>
    <p:sldId id="2575" r:id="rId23"/>
    <p:sldId id="2576" r:id="rId24"/>
    <p:sldId id="2581" r:id="rId25"/>
    <p:sldId id="2582" r:id="rId26"/>
    <p:sldId id="2583" r:id="rId27"/>
    <p:sldId id="2584" r:id="rId28"/>
    <p:sldId id="2585" r:id="rId29"/>
    <p:sldId id="2586" r:id="rId30"/>
    <p:sldId id="2587" r:id="rId31"/>
    <p:sldId id="2588" r:id="rId32"/>
    <p:sldId id="2589" r:id="rId33"/>
    <p:sldId id="2568" r:id="rId34"/>
    <p:sldId id="2569" r:id="rId35"/>
    <p:sldId id="2570" r:id="rId36"/>
    <p:sldId id="2571" r:id="rId37"/>
    <p:sldId id="2572" r:id="rId38"/>
    <p:sldId id="2579" r:id="rId39"/>
    <p:sldId id="2573" r:id="rId40"/>
    <p:sldId id="2601" r:id="rId41"/>
    <p:sldId id="2602" r:id="rId42"/>
    <p:sldId id="2603" r:id="rId43"/>
    <p:sldId id="2604" r:id="rId44"/>
    <p:sldId id="2598" r:id="rId45"/>
    <p:sldId id="2578" r:id="rId46"/>
    <p:sldId id="2599" r:id="rId47"/>
    <p:sldId id="2600" r:id="rId48"/>
    <p:sldId id="2434" r:id="rId49"/>
    <p:sldId id="2523" r:id="rId50"/>
    <p:sldId id="2590" r:id="rId51"/>
    <p:sldId id="2591" r:id="rId52"/>
    <p:sldId id="2594" r:id="rId53"/>
    <p:sldId id="2595" r:id="rId54"/>
    <p:sldId id="2596" r:id="rId55"/>
    <p:sldId id="2592" r:id="rId56"/>
    <p:sldId id="2593" r:id="rId57"/>
  </p:sldIdLst>
  <p:sldSz cx="12192000" cy="6858000"/>
  <p:notesSz cx="6858000" cy="9144000"/>
  <p:custDataLst>
    <p:tags r:id="rId6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178"/>
    <a:srgbClr val="6846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727FA-E152-4E2C-A5EC-1614E796AB70}" v="7" dt="2022-12-29T07:24:40.501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6" autoAdjust="0"/>
    <p:restoredTop sz="92923" autoAdjust="0"/>
  </p:normalViewPr>
  <p:slideViewPr>
    <p:cSldViewPr snapToGrid="0">
      <p:cViewPr varScale="1">
        <p:scale>
          <a:sx n="80" d="100"/>
          <a:sy n="80" d="100"/>
        </p:scale>
        <p:origin x="1061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2">
            <a:extLst>
              <a:ext uri="{FF2B5EF4-FFF2-40B4-BE49-F238E27FC236}">
                <a16:creationId xmlns:a16="http://schemas.microsoft.com/office/drawing/2014/main" id="{FDF90B2A-6B8D-2244-8DC9-BDE251A33C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545356" y="8388615"/>
            <a:ext cx="1981388" cy="652774"/>
          </a:xfrm>
          <a:prstGeom prst="rect">
            <a:avLst/>
          </a:prstGeom>
        </p:spPr>
      </p:pic>
      <p:sp>
        <p:nvSpPr>
          <p:cNvPr id="11" name="Fußzeilenplatzhalter 10"/>
          <p:cNvSpPr>
            <a:spLocks noGrp="1"/>
          </p:cNvSpPr>
          <p:nvPr>
            <p:ph type="ftr" sz="quarter" idx="2"/>
          </p:nvPr>
        </p:nvSpPr>
        <p:spPr>
          <a:xfrm>
            <a:off x="323682" y="8575889"/>
            <a:ext cx="2971800" cy="278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930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7265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1FE0-5E4A-4E7D-A243-7645F1B6A6BB}" type="datetimeFigureOut">
              <a:rPr lang="en-US" smtClean="0"/>
              <a:pPr/>
              <a:t>2/14/2026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Formatvorlagen</a:t>
            </a:r>
            <a:r>
              <a:rPr lang="en-US" dirty="0"/>
              <a:t> des </a:t>
            </a:r>
            <a:r>
              <a:rPr lang="en-US" dirty="0" err="1"/>
              <a:t>Textmasters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9AB2E-FDE1-4BC6-85B4-B5D76715CF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8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31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12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214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38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769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5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D8C3-DBB8-9E51-7639-D24DE56A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7F0261-74C9-340A-CE36-16D9E82DE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B12268-DB51-8DAD-C2E5-FE1366325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7B4218-AFEA-0C50-5079-4799EC6FF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95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8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82664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3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Presentation subtitle, 20pt, max. 1 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43EC69-A9A8-46BA-B101-6BF95CBB51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663" y="3934800"/>
            <a:ext cx="7543819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28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Picture_lef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360843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360842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subtitle, 20pt, max. 1 line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13D6958-4274-44BC-85D6-76026FBDA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60844" y="3933773"/>
            <a:ext cx="7543819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097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Picture_left_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360843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360842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subtitle, 20pt, max. 1 line</a:t>
            </a:r>
          </a:p>
        </p:txBody>
      </p:sp>
      <p:sp>
        <p:nvSpPr>
          <p:cNvPr id="9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-6350" y="0"/>
            <a:ext cx="3083863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EE5FD86-4C93-4534-8B40-492D99EE04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0845" y="3934800"/>
            <a:ext cx="7543818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705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blac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82663" y="422911"/>
            <a:ext cx="10922000" cy="35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2663" y="1449389"/>
            <a:ext cx="10922000" cy="45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 marL="180975" indent="-180975">
              <a:buClr>
                <a:schemeClr val="bg1"/>
              </a:buClr>
              <a:defRPr sz="2000" baseline="0">
                <a:solidFill>
                  <a:schemeClr val="bg1"/>
                </a:solidFill>
              </a:defRPr>
            </a:lvl3pPr>
            <a:lvl4pPr marL="357188" indent="-176213">
              <a:defRPr sz="2000">
                <a:solidFill>
                  <a:schemeClr val="bg1"/>
                </a:solidFill>
              </a:defRPr>
            </a:lvl4pPr>
            <a:lvl5pPr marL="538163" indent="-180975">
              <a:defRPr sz="2000">
                <a:solidFill>
                  <a:schemeClr val="bg1"/>
                </a:solidFill>
              </a:defRPr>
            </a:lvl5pPr>
          </a:lstStyle>
          <a:p>
            <a:pPr lvl="2"/>
            <a:r>
              <a:rPr lang="en-US" dirty="0"/>
              <a:t>Topic One</a:t>
            </a:r>
          </a:p>
          <a:p>
            <a:pPr lvl="2"/>
            <a:r>
              <a:rPr lang="en-US" dirty="0"/>
              <a:t>Topic Two</a:t>
            </a:r>
          </a:p>
          <a:p>
            <a:pPr lvl="2"/>
            <a:r>
              <a:rPr lang="en-US" dirty="0"/>
              <a:t>Topic Three</a:t>
            </a:r>
          </a:p>
          <a:p>
            <a:pPr lvl="2"/>
            <a:r>
              <a:rPr lang="en-US" dirty="0"/>
              <a:t>Topic Four</a:t>
            </a:r>
          </a:p>
          <a:p>
            <a:pPr lvl="2"/>
            <a:r>
              <a:rPr lang="en-US" dirty="0"/>
              <a:t>Topic Five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4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13D5FD-81A9-40A5-BD73-304893578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9013" y="1449389"/>
            <a:ext cx="10915650" cy="4572000"/>
          </a:xfrm>
        </p:spPr>
        <p:txBody>
          <a:bodyPr/>
          <a:lstStyle>
            <a:lvl1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1pPr>
            <a:lvl2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2pPr>
            <a:lvl3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3pPr>
            <a:lvl4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4pPr>
            <a:lvl5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Topic One</a:t>
            </a:r>
          </a:p>
          <a:p>
            <a:pPr lvl="0"/>
            <a:r>
              <a:rPr lang="en-US" dirty="0"/>
              <a:t>Topic Two</a:t>
            </a:r>
          </a:p>
          <a:p>
            <a:pPr lvl="0"/>
            <a:r>
              <a:rPr lang="en-US" dirty="0"/>
              <a:t>Topic Three</a:t>
            </a:r>
          </a:p>
          <a:p>
            <a:pPr lvl="0"/>
            <a:r>
              <a:rPr lang="en-US" dirty="0"/>
              <a:t>Topic Four</a:t>
            </a:r>
          </a:p>
          <a:p>
            <a:pPr lvl="0"/>
            <a:r>
              <a:rPr lang="en-US" dirty="0"/>
              <a:t>Topic Five</a:t>
            </a:r>
          </a:p>
        </p:txBody>
      </p:sp>
    </p:spTree>
    <p:extLst>
      <p:ext uri="{BB962C8B-B14F-4D97-AF65-F5344CB8AC3E}">
        <p14:creationId xmlns:p14="http://schemas.microsoft.com/office/powerpoint/2010/main" val="32483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3" y="2167996"/>
            <a:ext cx="4509262" cy="1379688"/>
          </a:xfrm>
        </p:spPr>
        <p:txBody>
          <a:bodyPr anchor="b"/>
          <a:lstStyle>
            <a:lvl1pPr>
              <a:defRPr sz="4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title,</a:t>
            </a:r>
            <a:br>
              <a:rPr lang="en-US" dirty="0"/>
            </a:br>
            <a:r>
              <a:rPr lang="en-US" dirty="0"/>
              <a:t>42pt.,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4" y="3879349"/>
            <a:ext cx="4515612" cy="607985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20pt</a:t>
            </a:r>
          </a:p>
        </p:txBody>
      </p:sp>
      <p:pic>
        <p:nvPicPr>
          <p:cNvPr id="11" name="Picture 10" descr="Mountain reflected in lake">
            <a:extLst>
              <a:ext uri="{FF2B5EF4-FFF2-40B4-BE49-F238E27FC236}">
                <a16:creationId xmlns:a16="http://schemas.microsoft.com/office/drawing/2014/main" id="{6019A700-93FF-4990-9CDB-658EADDBA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997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_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2" hasCustomPrompt="1"/>
          </p:nvPr>
        </p:nvSpPr>
        <p:spPr>
          <a:xfrm>
            <a:off x="6492725" y="0"/>
            <a:ext cx="569927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3" y="2167996"/>
            <a:ext cx="4509262" cy="1379688"/>
          </a:xfrm>
        </p:spPr>
        <p:txBody>
          <a:bodyPr anchor="b"/>
          <a:lstStyle>
            <a:lvl1pPr>
              <a:defRPr sz="4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title,</a:t>
            </a:r>
            <a:br>
              <a:rPr lang="en-US" dirty="0"/>
            </a:br>
            <a:r>
              <a:rPr lang="en-US" dirty="0"/>
              <a:t>42pt.,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4" y="3879349"/>
            <a:ext cx="4515612" cy="607985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20pt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6FB3992-54EF-4F1C-815D-B616C86E3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1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_text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1" y="1449389"/>
            <a:ext cx="10922001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010269EA-AB3B-443A-BBC6-3D966056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C3EE4FB3-3329-4D10-8038-24CBCB4E74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619" y="6291264"/>
            <a:ext cx="594043" cy="2808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22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_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2" y="1449389"/>
            <a:ext cx="5317200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587463" y="1449389"/>
            <a:ext cx="5317200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B566814A-4E8F-4353-A38A-5DE43CCF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4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_text_boxes_and_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98266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471946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9" hasCustomPrompt="1"/>
          </p:nvPr>
        </p:nvSpPr>
        <p:spPr>
          <a:xfrm>
            <a:off x="846261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19" name="Untertitel 2">
            <a:extLst>
              <a:ext uri="{FF2B5EF4-FFF2-40B4-BE49-F238E27FC236}">
                <a16:creationId xmlns:a16="http://schemas.microsoft.com/office/drawing/2014/main" id="{24314A69-5AB4-4634-9F90-13D8B3A0BE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2662" y="3913821"/>
            <a:ext cx="3448800" cy="11376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de-DE" sz="1100" b="0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A925377-5D13-4DEC-99D1-1EAA25E321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19462" y="3913189"/>
            <a:ext cx="3448226" cy="1138238"/>
          </a:xfrm>
        </p:spPr>
        <p:txBody>
          <a:bodyPr/>
          <a:lstStyle>
            <a:lvl1pPr>
              <a:defRPr sz="11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B2C22B51-9BCC-4306-98B7-D4011A0F69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62612" y="3913189"/>
            <a:ext cx="3442051" cy="1138238"/>
          </a:xfrm>
        </p:spPr>
        <p:txBody>
          <a:bodyPr/>
          <a:lstStyle>
            <a:lvl1pPr>
              <a:defRPr sz="11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6" name="Titelplatzhalter 1">
            <a:extLst>
              <a:ext uri="{FF2B5EF4-FFF2-40B4-BE49-F238E27FC236}">
                <a16:creationId xmlns:a16="http://schemas.microsoft.com/office/drawing/2014/main" id="{5F7203BF-1C0F-4BBC-ACB8-1F5A4BA2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9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10C3-6450-40E4-89F2-150E281E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15650" cy="38148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D7958-340B-45BF-8F42-4D74A69262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D2834-41A4-4D66-96D8-D4E923C9D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5CD764-8B09-4FA3-8416-ABA24B703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0BE761BF-FFA9-468C-925A-7C826D80DF28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982663" y="1449388"/>
            <a:ext cx="10922000" cy="457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28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nly_Headli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1E8B4DA-85BA-4264-B448-2E1258C0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298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Only_Headli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1E8B4DA-85BA-4264-B448-2E1258C0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1077E46-F0BB-4110-99FE-87E6A71544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49219614"/>
              </p:ext>
            </p:extLst>
          </p:nvPr>
        </p:nvGraphicFramePr>
        <p:xfrm>
          <a:off x="982661" y="1691216"/>
          <a:ext cx="10928752" cy="352086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464376">
                  <a:extLst>
                    <a:ext uri="{9D8B030D-6E8A-4147-A177-3AD203B41FA5}">
                      <a16:colId xmlns:a16="http://schemas.microsoft.com/office/drawing/2014/main" val="1595903310"/>
                    </a:ext>
                  </a:extLst>
                </a:gridCol>
                <a:gridCol w="5464376">
                  <a:extLst>
                    <a:ext uri="{9D8B030D-6E8A-4147-A177-3AD203B41FA5}">
                      <a16:colId xmlns:a16="http://schemas.microsoft.com/office/drawing/2014/main" val="1459721838"/>
                    </a:ext>
                  </a:extLst>
                </a:gridCol>
              </a:tblGrid>
              <a:tr h="440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152225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26369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628386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943420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023143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90784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55599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7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191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nly_Headline_Purp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929741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6A95F389-AE48-4F32-9F35-395BF54E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929741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39C1585F-416F-465A-A0F6-C3BC56092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4" y="-103367"/>
            <a:ext cx="1452659" cy="7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36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Pictur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60948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37959" y="851405"/>
            <a:ext cx="5373453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37959" y="2419351"/>
            <a:ext cx="5366704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7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982662" y="944563"/>
            <a:ext cx="4709477" cy="5081255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537959" y="854000"/>
            <a:ext cx="5373453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37959" y="2419200"/>
            <a:ext cx="5366704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00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2663" y="862371"/>
            <a:ext cx="4526597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82663" y="2403387"/>
            <a:ext cx="4520911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6400799" y="944563"/>
            <a:ext cx="5503863" cy="358158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400799" y="4738283"/>
            <a:ext cx="5503864" cy="1267142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</p:txBody>
      </p:sp>
      <p:sp>
        <p:nvSpPr>
          <p:cNvPr id="15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6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iagram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iagrammplatzhalter 10"/>
          <p:cNvSpPr>
            <a:spLocks noGrp="1"/>
          </p:cNvSpPr>
          <p:nvPr>
            <p:ph type="chart" sz="quarter" idx="14"/>
          </p:nvPr>
        </p:nvSpPr>
        <p:spPr>
          <a:xfrm>
            <a:off x="6400800" y="938164"/>
            <a:ext cx="5503863" cy="5067261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C2EEA5B-B8B4-4E8B-AC97-B3CA08750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862371"/>
            <a:ext cx="4526597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29FD0944-B50E-40DE-A117-8A579BBB0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2663" y="2403387"/>
            <a:ext cx="4520911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</p:spTree>
    <p:extLst>
      <p:ext uri="{BB962C8B-B14F-4D97-AF65-F5344CB8AC3E}">
        <p14:creationId xmlns:p14="http://schemas.microsoft.com/office/powerpoint/2010/main" val="2748719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_2_Text_Boxes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387032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61000" y="851405"/>
            <a:ext cx="7749352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61000" y="2403476"/>
            <a:ext cx="3726000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184352" y="2403476"/>
            <a:ext cx="3726000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_4_Text_Boxes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5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387032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0"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61000" y="855047"/>
            <a:ext cx="7749352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61000" y="2406650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184352" y="2406650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161000" y="4349513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7" hasCustomPrompt="1"/>
          </p:nvPr>
        </p:nvSpPr>
        <p:spPr>
          <a:xfrm>
            <a:off x="8184352" y="4349513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65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ltGray">
          <a:xfrm>
            <a:off x="6874800" y="0"/>
            <a:ext cx="5317200" cy="6858000"/>
          </a:xfrm>
          <a:prstGeom prst="rect">
            <a:avLst/>
          </a:prstGeom>
          <a:solidFill>
            <a:srgbClr val="512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4" y="883270"/>
            <a:ext cx="5317200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89013" y="2262958"/>
            <a:ext cx="53172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15" hasCustomPrompt="1"/>
          </p:nvPr>
        </p:nvSpPr>
        <p:spPr bwMode="ltGray">
          <a:xfrm>
            <a:off x="7400925" y="2262958"/>
            <a:ext cx="4503738" cy="165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D99E03F-33C2-4F9A-97EB-0FEA46149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094" y="-92364"/>
            <a:ext cx="1497739" cy="74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312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9D1A97-4450-4012-9ADB-C3F6F5FF22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5" name="Picture 14" descr="Mountain reflected in lake">
            <a:extLst>
              <a:ext uri="{FF2B5EF4-FFF2-40B4-BE49-F238E27FC236}">
                <a16:creationId xmlns:a16="http://schemas.microsoft.com/office/drawing/2014/main" id="{3329C5DF-E9EB-4954-81F6-2885658A7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948941" y="1918496"/>
            <a:ext cx="6294119" cy="2623024"/>
          </a:xfrm>
        </p:spPr>
        <p:txBody>
          <a:bodyPr anchor="ctr"/>
          <a:lstStyle>
            <a:lvl1pPr algn="ctr">
              <a:defRPr sz="4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Quote, 42pt,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2948940" y="4676395"/>
            <a:ext cx="6294120" cy="607985"/>
          </a:xfrm>
        </p:spPr>
        <p:txBody>
          <a:bodyPr/>
          <a:lstStyle>
            <a:lvl1pPr marL="0" indent="0" algn="ctr">
              <a:buNone/>
              <a:defRPr sz="15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Name, 15pt, bold, capital letters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60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6F2BA4-369F-470F-8C65-3E1CEB7A18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5" name="Picture 14" descr="Mountain reflected in lake">
            <a:extLst>
              <a:ext uri="{FF2B5EF4-FFF2-40B4-BE49-F238E27FC236}">
                <a16:creationId xmlns:a16="http://schemas.microsoft.com/office/drawing/2014/main" id="{44005239-5E35-40FA-AD97-25E05F3D8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  <a:solidFill>
            <a:srgbClr val="92D050"/>
          </a:solidFill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948941" y="2346960"/>
            <a:ext cx="6294119" cy="824467"/>
          </a:xfrm>
        </p:spPr>
        <p:txBody>
          <a:bodyPr anchor="b"/>
          <a:lstStyle>
            <a:lvl1pPr algn="ctr"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Statement, 24pt,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JUnit-Unit Testing Framework |  © SmartCliff  |  Internal  |  Version 1.0  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42259-5C42-4B5C-8BFE-C3D877E21C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49575" y="3307080"/>
            <a:ext cx="6292850" cy="1204912"/>
          </a:xfrm>
        </p:spPr>
        <p:txBody>
          <a:bodyPr/>
          <a:lstStyle>
            <a:lvl1pPr algn="ctr">
              <a:defRPr sz="1100" b="0">
                <a:solidFill>
                  <a:schemeClr val="tx1"/>
                </a:solidFill>
              </a:defRPr>
            </a:lvl1pPr>
            <a:lvl2pPr algn="ctr">
              <a:defRPr sz="1100" b="0">
                <a:solidFill>
                  <a:schemeClr val="bg1"/>
                </a:solidFill>
              </a:defRPr>
            </a:lvl2pPr>
            <a:lvl3pPr algn="ctr">
              <a:defRPr sz="1100" b="0">
                <a:solidFill>
                  <a:schemeClr val="bg1"/>
                </a:solidFill>
              </a:defRPr>
            </a:lvl3pPr>
            <a:lvl4pPr algn="ctr">
              <a:defRPr sz="1100" b="0">
                <a:solidFill>
                  <a:schemeClr val="bg1"/>
                </a:solidFill>
              </a:defRPr>
            </a:lvl4pPr>
            <a:lvl5pPr algn="ctr">
              <a:defRPr sz="11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Flowing text level,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51247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ountain reflected in lake">
            <a:extLst>
              <a:ext uri="{FF2B5EF4-FFF2-40B4-BE49-F238E27FC236}">
                <a16:creationId xmlns:a16="http://schemas.microsoft.com/office/drawing/2014/main" id="{E1E14815-AC8D-4269-8F40-0BCDA23ED9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5511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ountain reflected in lake">
            <a:extLst>
              <a:ext uri="{FF2B5EF4-FFF2-40B4-BE49-F238E27FC236}">
                <a16:creationId xmlns:a16="http://schemas.microsoft.com/office/drawing/2014/main" id="{8F284E6E-3CE6-4C6C-9FB7-E3EC8AC5A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681" r="-2" b="11077"/>
          <a:stretch/>
        </p:blipFill>
        <p:spPr>
          <a:xfrm>
            <a:off x="7711" y="6707"/>
            <a:ext cx="12184289" cy="6851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44CE7-0934-4B49-92BB-4823E62E559C}"/>
              </a:ext>
            </a:extLst>
          </p:cNvPr>
          <p:cNvSpPr txBox="1"/>
          <p:nvPr userDrawn="1"/>
        </p:nvSpPr>
        <p:spPr>
          <a:xfrm>
            <a:off x="2668100" y="630517"/>
            <a:ext cx="68360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US" sz="4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C50FEE-E671-40B7-9057-247823B47C3A}"/>
              </a:ext>
            </a:extLst>
          </p:cNvPr>
          <p:cNvSpPr/>
          <p:nvPr userDrawn="1"/>
        </p:nvSpPr>
        <p:spPr>
          <a:xfrm rot="2700000">
            <a:off x="6316135" y="5352159"/>
            <a:ext cx="230427" cy="2304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A14F09-6EE5-432F-8961-40F18B6CFC0C}"/>
              </a:ext>
            </a:extLst>
          </p:cNvPr>
          <p:cNvCxnSpPr/>
          <p:nvPr userDrawn="1"/>
        </p:nvCxnSpPr>
        <p:spPr>
          <a:xfrm flipH="1">
            <a:off x="4290571" y="5467372"/>
            <a:ext cx="182422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2F4357-38B7-4AAD-889A-3565C0394CED}"/>
              </a:ext>
            </a:extLst>
          </p:cNvPr>
          <p:cNvCxnSpPr/>
          <p:nvPr userDrawn="1"/>
        </p:nvCxnSpPr>
        <p:spPr>
          <a:xfrm flipH="1">
            <a:off x="6767673" y="5467372"/>
            <a:ext cx="1747412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2E1CAC5B-B640-4066-B22C-E262E8CEE5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542" y="6111948"/>
            <a:ext cx="1497739" cy="74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07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89013" y="680400"/>
            <a:ext cx="1091565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Title, 20pt, bold, max. 1 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89013" y="1439999"/>
            <a:ext cx="10915650" cy="45813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8619" y="6291264"/>
            <a:ext cx="594043" cy="280898"/>
          </a:xfrm>
          <a:prstGeom prst="rect">
            <a:avLst/>
          </a:prstGeom>
        </p:spPr>
        <p:txBody>
          <a:bodyPr vert="horz" lIns="91440" tIns="45720" rIns="108000" bIns="45720" rtlCol="0" anchor="ctr"/>
          <a:lstStyle>
            <a:lvl1pPr algn="r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6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74" r:id="rId11"/>
    <p:sldLayoutId id="2147483658" r:id="rId12"/>
    <p:sldLayoutId id="2147483676" r:id="rId13"/>
    <p:sldLayoutId id="2147483673" r:id="rId14"/>
    <p:sldLayoutId id="2147483663" r:id="rId15"/>
    <p:sldLayoutId id="2147483666" r:id="rId16"/>
    <p:sldLayoutId id="2147483665" r:id="rId17"/>
    <p:sldLayoutId id="2147483664" r:id="rId18"/>
    <p:sldLayoutId id="2147483669" r:id="rId19"/>
    <p:sldLayoutId id="2147483668" r:id="rId20"/>
    <p:sldLayoutId id="2147483670" r:id="rId21"/>
    <p:sldLayoutId id="2147483661" r:id="rId22"/>
    <p:sldLayoutId id="2147483662" r:id="rId23"/>
    <p:sldLayoutId id="2147483671" r:id="rId24"/>
    <p:sldLayoutId id="2147483672" r:id="rId2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79388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57188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36575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15963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Verdana" panose="020B0604030504040204" pitchFamily="34" charset="0"/>
        <a:buChar char="–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594" userDrawn="1">
          <p15:clr>
            <a:srgbClr val="F26B43"/>
          </p15:clr>
        </p15:guide>
        <p15:guide id="2" pos="7499" userDrawn="1">
          <p15:clr>
            <a:srgbClr val="F26B43"/>
          </p15:clr>
        </p15:guide>
        <p15:guide id="3" orient="horz" pos="4140" userDrawn="1">
          <p15:clr>
            <a:srgbClr val="F26B43"/>
          </p15:clr>
        </p15:guide>
        <p15:guide id="4" orient="horz" pos="3963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pos="619" userDrawn="1">
          <p15:clr>
            <a:srgbClr val="F26B43"/>
          </p15:clr>
        </p15:guide>
        <p15:guide id="7" orient="horz" pos="182" userDrawn="1">
          <p15:clr>
            <a:srgbClr val="F26B43"/>
          </p15:clr>
        </p15:guide>
        <p15:guide id="8" orient="horz" pos="595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0" orient="horz" pos="4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077512" y="1237582"/>
            <a:ext cx="9114487" cy="198649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JUnit</a:t>
            </a:r>
          </a:p>
        </p:txBody>
      </p:sp>
      <p:pic>
        <p:nvPicPr>
          <p:cNvPr id="17" name="Picture Placeholder 16" descr="A group of people working on laptops&#10;&#10;Description automatically generated with medium confidence">
            <a:extLst>
              <a:ext uri="{FF2B5EF4-FFF2-40B4-BE49-F238E27FC236}">
                <a16:creationId xmlns:a16="http://schemas.microsoft.com/office/drawing/2014/main" id="{344EB046-BC15-497B-8EC5-695DD8C4B6D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9" r="16309"/>
          <a:stretch/>
        </p:blipFill>
        <p:spPr>
          <a:xfrm>
            <a:off x="-6350" y="769"/>
            <a:ext cx="3083863" cy="6856462"/>
          </a:xfrm>
          <a:noFill/>
        </p:spPr>
      </p:pic>
    </p:spTree>
    <p:extLst>
      <p:ext uri="{BB962C8B-B14F-4D97-AF65-F5344CB8AC3E}">
        <p14:creationId xmlns:p14="http://schemas.microsoft.com/office/powerpoint/2010/main" val="370239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A6D026-3CC8-425F-AD9C-129C8BE499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sz="2400" dirty="0">
                <a:solidFill>
                  <a:srgbClr val="512E6E"/>
                </a:solidFill>
                <a:ea typeface="+mj-ea"/>
              </a:rPr>
              <a:t>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B520A-E277-41E8-9118-DF24F9105A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A4F25E-7210-40B5-896E-0D1B7EF24C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3" y="1449389"/>
            <a:ext cx="10915650" cy="4696768"/>
          </a:xfrm>
        </p:spPr>
        <p:txBody>
          <a:bodyPr/>
          <a:lstStyle/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Testing and Testing terminologies</a:t>
            </a:r>
          </a:p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Unit testing</a:t>
            </a:r>
          </a:p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Popular Unit testing Tools </a:t>
            </a:r>
          </a:p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Features of JUnit</a:t>
            </a:r>
          </a:p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JUnit Setup</a:t>
            </a:r>
          </a:p>
          <a:p>
            <a:pPr marL="274320" lvl="2" indent="-27432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Test case and Test Suite</a:t>
            </a:r>
          </a:p>
          <a:p>
            <a:pPr marL="274320" lvl="2" indent="-274320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JUnit annotations</a:t>
            </a:r>
            <a:endParaRPr lang="en-US" dirty="0">
              <a:solidFill>
                <a:schemeClr val="tx1"/>
              </a:solidFill>
            </a:endParaRPr>
          </a:p>
          <a:p>
            <a:pPr marL="274320" lvl="2" indent="-274320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JUnit assertions</a:t>
            </a:r>
          </a:p>
          <a:p>
            <a:pPr marL="274320" lvl="2" indent="-27432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9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Unit Testing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2749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a software testing method by which individual units of source code or modules together are tested to ensure whether they are fit for use.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Used </a:t>
            </a:r>
            <a:r>
              <a:rPr lang="en-US" sz="1800" b="1" dirty="0">
                <a:solidFill>
                  <a:schemeClr val="tx1"/>
                </a:solidFill>
              </a:rPr>
              <a:t>to identify defects early </a:t>
            </a:r>
            <a:r>
              <a:rPr lang="en-US" sz="1800" dirty="0">
                <a:solidFill>
                  <a:schemeClr val="tx1"/>
                </a:solidFill>
              </a:rPr>
              <a:t>in software development cycle which improves the confidence of developers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</a:t>
            </a:r>
            <a:r>
              <a:rPr lang="en-US" sz="1800" b="1" dirty="0">
                <a:solidFill>
                  <a:schemeClr val="tx1"/>
                </a:solidFill>
              </a:rPr>
              <a:t>important </a:t>
            </a:r>
            <a:r>
              <a:rPr lang="en-US" sz="1800" dirty="0">
                <a:solidFill>
                  <a:schemeClr val="tx1"/>
                </a:solidFill>
              </a:rPr>
              <a:t>because software developers sometimes tries to save time by doing minimal unit testing and this may resultant to bug in later phase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Inappropriate unit testing leads to high cost . If proper unit testing is done in early development, then it saves time and money in the end.</a:t>
            </a:r>
          </a:p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Unit tests </a:t>
            </a:r>
            <a:r>
              <a:rPr lang="en-US" sz="1800" dirty="0"/>
              <a:t>help to fix bugs </a:t>
            </a:r>
            <a:r>
              <a:rPr lang="en-US" sz="1800" b="0" dirty="0"/>
              <a:t>early in the development cycle and save costs.</a:t>
            </a:r>
          </a:p>
          <a:p>
            <a:pPr marL="274320" lvl="1" indent="-274320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Unit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Unit Testing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37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/>
              <a:t>Unit Testing </a:t>
            </a:r>
            <a:r>
              <a:rPr lang="en-US" sz="1800" b="0" dirty="0"/>
              <a:t>is performed in two ways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- Manual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- Automated</a:t>
            </a:r>
          </a:p>
          <a:p>
            <a:pPr marL="274320" lvl="1" indent="-274320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Unit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Unit Testing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Unit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Manual Testing Vs Automation Testing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DAA6EC0-733B-AB3B-58F4-F7D4F90B2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85466"/>
              </p:ext>
            </p:extLst>
          </p:nvPr>
        </p:nvGraphicFramePr>
        <p:xfrm>
          <a:off x="969963" y="1557707"/>
          <a:ext cx="10588761" cy="369057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529587">
                  <a:extLst>
                    <a:ext uri="{9D8B030D-6E8A-4147-A177-3AD203B41FA5}">
                      <a16:colId xmlns:a16="http://schemas.microsoft.com/office/drawing/2014/main" val="3814107707"/>
                    </a:ext>
                  </a:extLst>
                </a:gridCol>
                <a:gridCol w="3529587">
                  <a:extLst>
                    <a:ext uri="{9D8B030D-6E8A-4147-A177-3AD203B41FA5}">
                      <a16:colId xmlns:a16="http://schemas.microsoft.com/office/drawing/2014/main" val="1754235115"/>
                    </a:ext>
                  </a:extLst>
                </a:gridCol>
                <a:gridCol w="3529587">
                  <a:extLst>
                    <a:ext uri="{9D8B030D-6E8A-4147-A177-3AD203B41FA5}">
                      <a16:colId xmlns:a16="http://schemas.microsoft.com/office/drawing/2014/main" val="4166430669"/>
                    </a:ext>
                  </a:extLst>
                </a:gridCol>
              </a:tblGrid>
              <a:tr h="548846">
                <a:tc>
                  <a:txBody>
                    <a:bodyPr/>
                    <a:lstStyle/>
                    <a:p>
                      <a:pPr algn="ctr" eaLnBrk="1">
                        <a:lnSpc>
                          <a:spcPct val="150000"/>
                        </a:lnSpc>
                      </a:pPr>
                      <a:endParaRPr 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 Testing</a:t>
                      </a:r>
                      <a:endParaRPr 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Automation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Testing</a:t>
                      </a:r>
                      <a:endParaRPr 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397121"/>
                  </a:ext>
                </a:extLst>
              </a:tr>
              <a:tr h="112053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</a:t>
                      </a:r>
                      <a:endParaRPr 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Executing the test cases manually without any tool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Executing the test cases </a:t>
                      </a:r>
                      <a:r>
                        <a:rPr lang="en-US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using an automation tool and framework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926098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slow and tedious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002134"/>
                  </a:ext>
                </a:extLst>
              </a:tr>
              <a:tr h="781291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Resources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Huge investment in human resources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Less 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investment in human resources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599936"/>
                  </a:ext>
                </a:extLst>
              </a:tr>
              <a:tr h="781291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Reliability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reliable, as it has to account for human errors. 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reliable, tests are precise and reliable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004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02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7675565" cy="5297972"/>
          </a:xfrm>
        </p:spPr>
        <p:txBody>
          <a:bodyPr/>
          <a:lstStyle/>
          <a:p>
            <a:pPr marL="274320" indent="-274320">
              <a:lnSpc>
                <a:spcPct val="150000"/>
              </a:lnSpc>
            </a:pPr>
            <a:r>
              <a:rPr lang="en-US" sz="1800" dirty="0"/>
              <a:t>JUnit:</a:t>
            </a:r>
            <a:r>
              <a:rPr lang="en-US" sz="1800" b="0" dirty="0"/>
              <a:t>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Free to use testing tool used for Java programming language.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 - It provides annotations and assertions to identify test method.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dirty="0" err="1"/>
              <a:t>Nunit</a:t>
            </a:r>
            <a:r>
              <a:rPr lang="en-US" sz="1800" dirty="0"/>
              <a:t>: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Open source tool which allows writing scripts manually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</a:t>
            </a:r>
            <a:r>
              <a:rPr lang="en-US" sz="1800" b="0" dirty="0" err="1"/>
              <a:t>NUnit</a:t>
            </a:r>
            <a:r>
              <a:rPr lang="en-US" sz="1800" b="0" dirty="0"/>
              <a:t> is widely used unit-testing framework use for all </a:t>
            </a:r>
            <a:r>
              <a:rPr lang="en-US" sz="1800" b="0" dirty="0" err="1"/>
              <a:t>.net</a:t>
            </a:r>
            <a:r>
              <a:rPr lang="en-US" sz="1800" b="0" dirty="0"/>
              <a:t> languages. 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Supports data-driven tests which can run in parallel.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dirty="0" err="1"/>
              <a:t>Jmockit</a:t>
            </a:r>
            <a:r>
              <a:rPr lang="en-US" sz="1800" dirty="0"/>
              <a:t>: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Open source Unit testing tool.  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It allows mocking API with recording and verification syntax.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- Offers Line coverage, Path Coverage, and Data Coverage.</a:t>
            </a:r>
          </a:p>
          <a:p>
            <a:pPr marL="274320" indent="-274320">
              <a:lnSpc>
                <a:spcPct val="150000"/>
              </a:lnSpc>
            </a:pPr>
            <a:endParaRPr lang="en-US" sz="1100" b="0" dirty="0">
              <a:solidFill>
                <a:schemeClr val="tx2"/>
              </a:solidFill>
            </a:endParaRPr>
          </a:p>
          <a:p>
            <a:pPr marL="274320" lvl="1" indent="-274320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Unit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Popular Unit Testing Tools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Unit Testing of Java Application using JUnit with Example - Simple Detailed  Guide | opencodez">
            <a:extLst>
              <a:ext uri="{FF2B5EF4-FFF2-40B4-BE49-F238E27FC236}">
                <a16:creationId xmlns:a16="http://schemas.microsoft.com/office/drawing/2014/main" id="{1DC58DF0-9AEF-C04C-2884-9FFD2F6C8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67233" y="1312596"/>
            <a:ext cx="1731818" cy="1731818"/>
          </a:xfrm>
          <a:prstGeom prst="rect">
            <a:avLst/>
          </a:prstGeom>
          <a:noFill/>
        </p:spPr>
      </p:pic>
      <p:pic>
        <p:nvPicPr>
          <p:cNvPr id="8" name="Picture 7" descr="nunit.png">
            <a:extLst>
              <a:ext uri="{FF2B5EF4-FFF2-40B4-BE49-F238E27FC236}">
                <a16:creationId xmlns:a16="http://schemas.microsoft.com/office/drawing/2014/main" id="{3D0D6880-BE2D-82BA-3C4B-3AE979AA3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931" y="3329631"/>
            <a:ext cx="2184443" cy="1121565"/>
          </a:xfrm>
          <a:prstGeom prst="rect">
            <a:avLst/>
          </a:prstGeom>
        </p:spPr>
      </p:pic>
      <p:pic>
        <p:nvPicPr>
          <p:cNvPr id="9" name="Picture 16" descr="JMockit by Mikko Puustinen on Prezi Next">
            <a:extLst>
              <a:ext uri="{FF2B5EF4-FFF2-40B4-BE49-F238E27FC236}">
                <a16:creationId xmlns:a16="http://schemas.microsoft.com/office/drawing/2014/main" id="{94C55F50-1320-C003-DB37-E8C2C46F5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5931" y="5153981"/>
            <a:ext cx="2488771" cy="1555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705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349681" cy="5297972"/>
          </a:xfrm>
        </p:spPr>
        <p:txBody>
          <a:bodyPr/>
          <a:lstStyle/>
          <a:p>
            <a:pPr marL="274320" indent="-274320">
              <a:lnSpc>
                <a:spcPct val="150000"/>
              </a:lnSpc>
            </a:pPr>
            <a:r>
              <a:rPr lang="en-US" sz="1800" dirty="0"/>
              <a:t>EMMA: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 - Open-source toolkit for analyzing and reporting code written in Java language. 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 - Support coverage types like method, line, basic block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US" sz="1800" b="0" dirty="0"/>
              <a:t>       - Java-based so it is without external library dependencies and can access the source code.</a:t>
            </a:r>
          </a:p>
          <a:p>
            <a:pPr marL="274320" indent="-274320">
              <a:lnSpc>
                <a:spcPct val="150000"/>
              </a:lnSpc>
            </a:pPr>
            <a:r>
              <a:rPr lang="en-US" sz="1800" dirty="0" err="1"/>
              <a:t>PHPUnit</a:t>
            </a:r>
            <a:r>
              <a:rPr lang="en-US" sz="1800" dirty="0"/>
              <a:t>:</a:t>
            </a:r>
            <a:r>
              <a:rPr lang="en-US" sz="1800" b="0" dirty="0"/>
              <a:t> </a:t>
            </a:r>
          </a:p>
          <a:p>
            <a:pPr marL="274320" indent="-274320">
              <a:lnSpc>
                <a:spcPct val="150000"/>
              </a:lnSpc>
            </a:pPr>
            <a:r>
              <a:rPr lang="en-US" sz="1800" b="0" dirty="0"/>
              <a:t>      - </a:t>
            </a:r>
            <a:r>
              <a:rPr lang="en-US" sz="1800" b="0" dirty="0" err="1"/>
              <a:t>PHPUnit</a:t>
            </a:r>
            <a:r>
              <a:rPr lang="en-US" sz="1800" b="0" dirty="0"/>
              <a:t> is a unit testing tool for PHP programmer. </a:t>
            </a:r>
          </a:p>
          <a:p>
            <a:pPr marL="274320" indent="-274320">
              <a:lnSpc>
                <a:spcPct val="150000"/>
              </a:lnSpc>
            </a:pPr>
            <a:r>
              <a:rPr lang="en-US" sz="1800" b="0" dirty="0"/>
              <a:t>      - It takes small portions of code which is called units and test each of </a:t>
            </a:r>
          </a:p>
          <a:p>
            <a:pPr marL="274320" indent="-274320">
              <a:lnSpc>
                <a:spcPct val="150000"/>
              </a:lnSpc>
            </a:pPr>
            <a:r>
              <a:rPr lang="en-US" sz="1800" b="0" dirty="0"/>
              <a:t>        them separately.  </a:t>
            </a:r>
          </a:p>
          <a:p>
            <a:pPr marL="274320" indent="-274320">
              <a:lnSpc>
                <a:spcPct val="150000"/>
              </a:lnSpc>
            </a:pPr>
            <a:endParaRPr lang="en-US" sz="1800" b="0" dirty="0">
              <a:solidFill>
                <a:schemeClr val="tx2"/>
              </a:solidFill>
            </a:endParaRPr>
          </a:p>
          <a:p>
            <a:pPr marL="274320" lvl="1" indent="-274320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Unit 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Popular Unit Testing Tools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455B6654-7B02-9459-9CA7-EB6D57CB0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5484" y="2281068"/>
            <a:ext cx="1726857" cy="562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2D44A18-172F-9CBC-1F7F-C0B4F6CF8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05484" y="4525578"/>
            <a:ext cx="1841799" cy="569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621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JUnit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7780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JUnit </a:t>
            </a:r>
            <a:r>
              <a:rPr lang="en-US" sz="1800" dirty="0">
                <a:solidFill>
                  <a:schemeClr val="tx1"/>
                </a:solidFill>
              </a:rPr>
              <a:t>is an open source Unit Testing Framework for JAVA. 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useful for Java Developers to write and run repeatable tests. 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Developed by </a:t>
            </a:r>
            <a:r>
              <a:rPr lang="en-US" sz="1800" b="1" dirty="0">
                <a:solidFill>
                  <a:schemeClr val="tx1"/>
                </a:solidFill>
              </a:rPr>
              <a:t>Erich Gamma </a:t>
            </a:r>
            <a:r>
              <a:rPr lang="en-US" sz="1800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chemeClr val="tx1"/>
                </a:solidFill>
              </a:rPr>
              <a:t>Kent Beck</a:t>
            </a:r>
            <a:r>
              <a:rPr lang="en-US" sz="1800" dirty="0">
                <a:solidFill>
                  <a:schemeClr val="tx1"/>
                </a:solidFill>
              </a:rPr>
              <a:t> initially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Plays a crucial role in </a:t>
            </a:r>
            <a:r>
              <a:rPr lang="en-US" sz="1800" b="1" dirty="0">
                <a:solidFill>
                  <a:schemeClr val="tx1"/>
                </a:solidFill>
              </a:rPr>
              <a:t>Test-Driven Development</a:t>
            </a:r>
            <a:r>
              <a:rPr lang="en-US" sz="1800" dirty="0">
                <a:solidFill>
                  <a:schemeClr val="tx1"/>
                </a:solidFill>
              </a:rPr>
              <a:t>, and is a family of unit testing frameworks collectively known as </a:t>
            </a:r>
            <a:r>
              <a:rPr lang="en-US" sz="1800" b="1" dirty="0" err="1">
                <a:solidFill>
                  <a:schemeClr val="tx1"/>
                </a:solidFill>
              </a:rPr>
              <a:t>xUnit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JUnit</a:t>
            </a:r>
            <a:r>
              <a:rPr lang="en-US" sz="1800" dirty="0">
                <a:solidFill>
                  <a:schemeClr val="tx1"/>
                </a:solidFill>
              </a:rPr>
              <a:t> promotes the idea of </a:t>
            </a:r>
            <a:r>
              <a:rPr lang="en-US" sz="1800" b="1" dirty="0">
                <a:solidFill>
                  <a:schemeClr val="tx1"/>
                </a:solidFill>
              </a:rPr>
              <a:t>"first testing then coding"</a:t>
            </a:r>
            <a:r>
              <a:rPr lang="en-US" sz="1800" dirty="0">
                <a:solidFill>
                  <a:schemeClr val="tx1"/>
                </a:solidFill>
              </a:rPr>
              <a:t>, which emphasizes on setting up the test data for a piece of code that can be tested first and then implemented.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approach is like "</a:t>
            </a:r>
            <a:r>
              <a:rPr lang="en-US" sz="1800" b="1" dirty="0">
                <a:solidFill>
                  <a:schemeClr val="tx1"/>
                </a:solidFill>
              </a:rPr>
              <a:t>test a little, code a little, test a little, code a little." 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</a:t>
            </a:r>
            <a:r>
              <a:rPr lang="en-US" sz="1800" b="1" dirty="0">
                <a:solidFill>
                  <a:schemeClr val="tx1"/>
                </a:solidFill>
              </a:rPr>
              <a:t>increases the productivity </a:t>
            </a:r>
            <a:r>
              <a:rPr lang="en-US" sz="1800" dirty="0">
                <a:solidFill>
                  <a:schemeClr val="tx1"/>
                </a:solidFill>
              </a:rPr>
              <a:t>of the programmer and the stability of program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9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JUnit </a:t>
            </a:r>
            <a:r>
              <a:rPr lang="en-US" sz="1800" b="1" dirty="0">
                <a:solidFill>
                  <a:schemeClr val="tx1"/>
                </a:solidFill>
              </a:rPr>
              <a:t>is elegantly simple</a:t>
            </a:r>
            <a:r>
              <a:rPr lang="en-US" sz="1800" dirty="0">
                <a:solidFill>
                  <a:schemeClr val="tx1"/>
                </a:solidFill>
              </a:rPr>
              <a:t>. It is </a:t>
            </a:r>
            <a:r>
              <a:rPr lang="en-US" sz="1800" b="1" dirty="0">
                <a:solidFill>
                  <a:schemeClr val="tx1"/>
                </a:solidFill>
              </a:rPr>
              <a:t>less complex </a:t>
            </a:r>
            <a:r>
              <a:rPr lang="en-US" sz="1800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chemeClr val="tx1"/>
                </a:solidFill>
              </a:rPr>
              <a:t>takes less time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allows you to </a:t>
            </a:r>
            <a:r>
              <a:rPr lang="en-US" sz="1800" b="1" dirty="0">
                <a:solidFill>
                  <a:schemeClr val="tx1"/>
                </a:solidFill>
              </a:rPr>
              <a:t>write codes faster</a:t>
            </a:r>
            <a:r>
              <a:rPr lang="en-US" sz="1800" dirty="0">
                <a:solidFill>
                  <a:schemeClr val="tx1"/>
                </a:solidFill>
              </a:rPr>
              <a:t>, which </a:t>
            </a:r>
            <a:r>
              <a:rPr lang="en-US" sz="1800" b="1" dirty="0">
                <a:solidFill>
                  <a:schemeClr val="tx1"/>
                </a:solidFill>
              </a:rPr>
              <a:t>increases quality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can be organized into test suites containing test cases and even other test suites.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provides </a:t>
            </a:r>
            <a:r>
              <a:rPr lang="en-US" sz="1800" b="1" dirty="0">
                <a:solidFill>
                  <a:schemeClr val="tx1"/>
                </a:solidFill>
              </a:rPr>
              <a:t>annotations to identify test methods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provides </a:t>
            </a:r>
            <a:r>
              <a:rPr lang="en-US" sz="1800" b="1" dirty="0">
                <a:solidFill>
                  <a:schemeClr val="tx1"/>
                </a:solidFill>
              </a:rPr>
              <a:t>assertions for testing expected results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provides test runners for running tests. </a:t>
            </a:r>
          </a:p>
          <a:p>
            <a:pPr marL="274320" lvl="1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JUnit shows test </a:t>
            </a:r>
            <a:r>
              <a:rPr lang="en-US" sz="1800" b="1" dirty="0">
                <a:solidFill>
                  <a:schemeClr val="tx1"/>
                </a:solidFill>
              </a:rPr>
              <a:t>progress</a:t>
            </a:r>
            <a:r>
              <a:rPr lang="en-US" sz="1800" dirty="0">
                <a:solidFill>
                  <a:schemeClr val="tx1"/>
                </a:solidFill>
              </a:rPr>
              <a:t> in a bar</a:t>
            </a:r>
          </a:p>
          <a:p>
            <a:pPr marL="274320" lvl="1" indent="-274320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rgbClr val="FF0000"/>
                </a:solidFill>
              </a:rPr>
              <a:t>Red: Error</a:t>
            </a:r>
          </a:p>
          <a:p>
            <a:pPr marL="274320" lvl="1" indent="-274320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rgbClr val="00B050"/>
                </a:solidFill>
              </a:rPr>
              <a:t>Green: Passed</a:t>
            </a:r>
          </a:p>
          <a:p>
            <a:pPr marL="274320" lvl="1" indent="-274320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	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Advantages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7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JUnit with Eclipse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174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Create a new  Maven project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with Eclipse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 with Eclipse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25914-B282-EB93-6F24-69FF2943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15" y="1836660"/>
            <a:ext cx="4665518" cy="4702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525904-96D6-D7F3-2E6B-86B79B136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4952"/>
            <a:ext cx="5292958" cy="491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4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Create a new Java class named Calculator.java and write the units(methods) for testing 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with Eclipse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 with Eclipse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E369B2-9656-AF32-8042-97485B92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1872340"/>
            <a:ext cx="969780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7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3921849" cy="5297972"/>
          </a:xfrm>
        </p:spPr>
        <p:txBody>
          <a:bodyPr/>
          <a:lstStyle/>
          <a:p>
            <a:pPr marL="274320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0" dirty="0"/>
              <a:t>Right-click on the project in the </a:t>
            </a:r>
            <a:r>
              <a:rPr lang="en-US" sz="1600" dirty="0"/>
              <a:t>Package Explorer</a:t>
            </a:r>
            <a:r>
              <a:rPr lang="en-US" sz="1600" b="0" dirty="0"/>
              <a:t>, then select </a:t>
            </a:r>
            <a:r>
              <a:rPr lang="en-US" sz="1600" dirty="0"/>
              <a:t>New -&gt; JUnit Test Case</a:t>
            </a:r>
            <a:r>
              <a:rPr lang="en-US" sz="1600" b="0" dirty="0"/>
              <a:t>. In the dialog that appears, choose </a:t>
            </a:r>
            <a:r>
              <a:rPr lang="en-US" sz="1600" dirty="0"/>
              <a:t>New JUnit Jupiter test</a:t>
            </a:r>
            <a:r>
              <a:rPr lang="en-US" sz="1600" b="0" dirty="0"/>
              <a:t>, enter </a:t>
            </a:r>
            <a:r>
              <a:rPr lang="en-US" sz="1600" dirty="0"/>
              <a:t>CalculatorTest.java </a:t>
            </a:r>
            <a:r>
              <a:rPr lang="en-US" sz="1600" b="0" dirty="0"/>
              <a:t>as the class name, and make sure to add the </a:t>
            </a:r>
            <a:r>
              <a:rPr lang="en-US" sz="1600" dirty="0"/>
              <a:t>JUnit 5 library to the build path</a:t>
            </a: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with Eclipse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 with Eclipse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A4980-277D-172F-F16E-44C0B7157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962" y="1376731"/>
            <a:ext cx="5949347" cy="500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1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02C1-9292-A5A6-C6BD-D29E6FD7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084945-F51E-BD83-B6E6-50E7FFFBD5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1" y="1263483"/>
            <a:ext cx="4254358" cy="5297972"/>
          </a:xfrm>
        </p:spPr>
        <p:txBody>
          <a:bodyPr/>
          <a:lstStyle/>
          <a:p>
            <a:pPr marL="274320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0" dirty="0"/>
              <a:t>Right-click on the project in the </a:t>
            </a:r>
            <a:r>
              <a:rPr lang="en-US" sz="1600" dirty="0"/>
              <a:t>Package Explorer</a:t>
            </a:r>
            <a:r>
              <a:rPr lang="en-US" sz="1600" b="0" dirty="0"/>
              <a:t>, then select </a:t>
            </a:r>
            <a:r>
              <a:rPr lang="en-US" sz="1600" dirty="0"/>
              <a:t>New -&gt; JUnit Test Case</a:t>
            </a:r>
            <a:r>
              <a:rPr lang="en-US" sz="1600" b="0" dirty="0"/>
              <a:t>. In the dialog that appears, choose </a:t>
            </a:r>
            <a:r>
              <a:rPr lang="en-US" sz="1600" dirty="0"/>
              <a:t>New JUnit Jupiter test</a:t>
            </a:r>
            <a:r>
              <a:rPr lang="en-US" sz="1600" b="0" dirty="0"/>
              <a:t>, enter </a:t>
            </a:r>
            <a:r>
              <a:rPr lang="en-US" sz="1600" dirty="0"/>
              <a:t>CalculatorTest.java </a:t>
            </a:r>
            <a:r>
              <a:rPr lang="en-US" sz="1600" b="0" dirty="0"/>
              <a:t>as the class name, and make sure to add the </a:t>
            </a:r>
            <a:r>
              <a:rPr lang="en-US" sz="1600" dirty="0"/>
              <a:t>JUnit 5 library to the build path</a:t>
            </a: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AAC44-1175-2C3E-7621-007AC47D03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with Eclipse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CA1823-7A03-2D0A-8FB2-EC43E06E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 with Eclipse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C3FDC-6D20-D039-F68B-130B9B7D3F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858E04-6A62-3043-28EA-410CADD8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228" y="1263483"/>
            <a:ext cx="6369625" cy="521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0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0" dirty="0"/>
              <a:t>After writing the test cases, right-click on the test class file and select Run As -&gt; JUnit Test. The test results will be displayed as shown.</a:t>
            </a:r>
            <a:endParaRPr lang="en-US" sz="14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with Eclipse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JUnit with Eclipse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65539B-F35D-4625-D700-EC4BED8A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1" y="1814500"/>
            <a:ext cx="6753464" cy="439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4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JUnit Annotations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0191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special form of </a:t>
            </a:r>
            <a:r>
              <a:rPr lang="en-US" sz="1800" b="1" dirty="0">
                <a:solidFill>
                  <a:schemeClr val="tx1"/>
                </a:solidFill>
              </a:rPr>
              <a:t>syntactic meta-data 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 make Java source code for </a:t>
            </a:r>
            <a:r>
              <a:rPr lang="en-US" sz="1800" b="1" dirty="0">
                <a:solidFill>
                  <a:schemeClr val="tx1"/>
                </a:solidFill>
              </a:rPr>
              <a:t>better code readability and structure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Variables, parameters, packages, methods and classes </a:t>
            </a:r>
            <a:r>
              <a:rPr lang="en-US" sz="1800" dirty="0">
                <a:solidFill>
                  <a:schemeClr val="tx1"/>
                </a:solidFill>
              </a:rPr>
              <a:t>can be annotated.</a:t>
            </a:r>
          </a:p>
          <a:p>
            <a:pPr marL="274320" lvl="1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Annotations were </a:t>
            </a:r>
            <a:r>
              <a:rPr lang="en-US" sz="1800" b="1" dirty="0">
                <a:solidFill>
                  <a:schemeClr val="tx1"/>
                </a:solidFill>
              </a:rPr>
              <a:t>introduced in Junit4</a:t>
            </a:r>
            <a:r>
              <a:rPr lang="en-US" sz="1800" dirty="0">
                <a:solidFill>
                  <a:schemeClr val="tx1"/>
                </a:solidFill>
              </a:rPr>
              <a:t>, which makes Java code more </a:t>
            </a:r>
            <a:r>
              <a:rPr lang="en-US" sz="1800" b="1" dirty="0">
                <a:solidFill>
                  <a:schemeClr val="tx1"/>
                </a:solidFill>
              </a:rPr>
              <a:t>readable and simple.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Annotations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Definition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5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Annotations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Annotations with explanation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148B1C4-16FA-DF37-10AB-F28E6A74FCC2}"/>
              </a:ext>
            </a:extLst>
          </p:cNvPr>
          <p:cNvGraphicFramePr>
            <a:graphicFrameLocks noGrp="1"/>
          </p:cNvGraphicFramePr>
          <p:nvPr/>
        </p:nvGraphicFramePr>
        <p:xfrm>
          <a:off x="993773" y="1176708"/>
          <a:ext cx="10455277" cy="539091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507963">
                  <a:extLst>
                    <a:ext uri="{9D8B030D-6E8A-4147-A177-3AD203B41FA5}">
                      <a16:colId xmlns:a16="http://schemas.microsoft.com/office/drawing/2014/main" val="1053953042"/>
                    </a:ext>
                  </a:extLst>
                </a:gridCol>
                <a:gridCol w="7947314">
                  <a:extLst>
                    <a:ext uri="{9D8B030D-6E8A-4147-A177-3AD203B41FA5}">
                      <a16:colId xmlns:a16="http://schemas.microsoft.com/office/drawing/2014/main" val="1428856522"/>
                    </a:ext>
                  </a:extLst>
                </a:gridCol>
              </a:tblGrid>
              <a:tr h="435207">
                <a:tc>
                  <a:txBody>
                    <a:bodyPr/>
                    <a:lstStyle/>
                    <a:p>
                      <a:pPr algn="ctr" eaLnBrk="1">
                        <a:lnSpc>
                          <a:spcPct val="150000"/>
                        </a:lnSpc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Annotations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IN" sz="18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  <a:endParaRPr lang="en-US" sz="1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833775"/>
                  </a:ext>
                </a:extLst>
              </a:tr>
              <a:tr h="61613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Indicates that public void method to which it is attached can be executed as a test Case.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249435"/>
                  </a:ext>
                </a:extLst>
              </a:tr>
              <a:tr h="43272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@BeforeEach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 some statement such as preconditions before each test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08185"/>
                  </a:ext>
                </a:extLst>
              </a:tr>
              <a:tr h="54079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@BeforeAll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 once before all the test  methods in the class .The method must be static.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128183"/>
                  </a:ext>
                </a:extLst>
              </a:tr>
              <a:tr h="444203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@AfterEach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 some statements after each test case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43121"/>
                  </a:ext>
                </a:extLst>
              </a:tr>
              <a:tr h="44836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@AfterAll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 once after all the test  methods in the class .The method must be static.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734344"/>
                  </a:ext>
                </a:extLst>
              </a:tr>
              <a:tr h="46884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@Disabled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Disables a test or test class (i.e., skips its execution).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173106"/>
                  </a:ext>
                </a:extLst>
              </a:tr>
              <a:tr h="35696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@RepeatedTest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Executes the test method multiple 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379502"/>
                  </a:ext>
                </a:extLst>
              </a:tr>
              <a:tr h="61613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@ParameterizedTest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Marks a test method as parameterized to run with different sets of inputs.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18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@Nested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Used to create inner test classes, allowing you to logically group related test methods.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104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JUnit Assertions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1698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Assert </a:t>
            </a:r>
            <a:r>
              <a:rPr lang="en-US" sz="1800" dirty="0">
                <a:solidFill>
                  <a:schemeClr val="tx1"/>
                </a:solidFill>
              </a:rPr>
              <a:t>is a method useful in </a:t>
            </a:r>
            <a:r>
              <a:rPr lang="en-US" sz="1800" b="1" dirty="0">
                <a:solidFill>
                  <a:schemeClr val="tx1"/>
                </a:solidFill>
              </a:rPr>
              <a:t>determining Pass or Fail status of a test case.</a:t>
            </a:r>
          </a:p>
          <a:p>
            <a:pPr marL="274320" lvl="1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JUnit provides a class named </a:t>
            </a:r>
            <a:r>
              <a:rPr lang="en-US" sz="1800" b="1" dirty="0">
                <a:solidFill>
                  <a:schemeClr val="tx1"/>
                </a:solidFill>
              </a:rPr>
              <a:t>Assert</a:t>
            </a:r>
            <a:r>
              <a:rPr lang="en-US" sz="1800" dirty="0">
                <a:solidFill>
                  <a:schemeClr val="tx1"/>
                </a:solidFill>
              </a:rPr>
              <a:t>, which provides a bunch of assertion methods useful in </a:t>
            </a:r>
            <a:r>
              <a:rPr lang="en-US" sz="1800" b="1" dirty="0">
                <a:solidFill>
                  <a:schemeClr val="tx1"/>
                </a:solidFill>
              </a:rPr>
              <a:t>writing test cases and to detect test failure.</a:t>
            </a:r>
          </a:p>
          <a:p>
            <a:pPr marL="274320" indent="-27432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Assert methods are provided by the class </a:t>
            </a:r>
            <a:r>
              <a:rPr lang="en-US" sz="1800" dirty="0" err="1"/>
              <a:t>org.junit.Assert</a:t>
            </a:r>
            <a:r>
              <a:rPr lang="en-US" sz="1800" dirty="0"/>
              <a:t> </a:t>
            </a:r>
            <a:r>
              <a:rPr lang="en-US" sz="1800" b="0" dirty="0"/>
              <a:t>which extends </a:t>
            </a:r>
            <a:r>
              <a:rPr lang="en-US" sz="1800" dirty="0" err="1"/>
              <a:t>java.lang.Object</a:t>
            </a:r>
            <a:r>
              <a:rPr lang="en-US" sz="1800" b="0" dirty="0"/>
              <a:t> class.</a:t>
            </a:r>
          </a:p>
          <a:p>
            <a:pPr marL="274320" lvl="1" indent="-274320">
              <a:lnSpc>
                <a:spcPct val="200000"/>
              </a:lnSpc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Definition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44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/>
              <a:t>JUnit Assert methods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 -Boolean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-Null object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-Identical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-Assert Equals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-Assert Array Equals</a:t>
            </a:r>
          </a:p>
          <a:p>
            <a:pPr marL="274320" indent="-274320">
              <a:lnSpc>
                <a:spcPct val="200000"/>
              </a:lnSpc>
            </a:pPr>
            <a:r>
              <a:rPr lang="en-US" sz="1800" b="0" dirty="0"/>
              <a:t>            -Fail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Commonly used Assertions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01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To test the </a:t>
            </a:r>
            <a:r>
              <a:rPr lang="en-US" sz="1800" b="0" dirty="0" err="1"/>
              <a:t>boolean</a:t>
            </a:r>
            <a:r>
              <a:rPr lang="en-US" sz="1800" b="0" dirty="0"/>
              <a:t> conditions (true or false), you can use following assert methods</a:t>
            </a:r>
            <a:endParaRPr lang="en-IN" sz="1800" b="0" dirty="0"/>
          </a:p>
          <a:p>
            <a:pPr marL="631508" lvl="3" indent="-274320">
              <a:lnSpc>
                <a:spcPct val="200000"/>
              </a:lnSpc>
              <a:tabLst>
                <a:tab pos="630238" algn="l"/>
              </a:tabLst>
            </a:pPr>
            <a:r>
              <a:rPr lang="en-IN" sz="1800" b="0" dirty="0">
                <a:solidFill>
                  <a:schemeClr val="tx1"/>
                </a:solidFill>
              </a:rPr>
              <a:t>  </a:t>
            </a:r>
            <a:r>
              <a:rPr lang="en-IN" sz="1800" b="0" dirty="0" err="1">
                <a:solidFill>
                  <a:schemeClr val="tx1"/>
                </a:solidFill>
              </a:rPr>
              <a:t>assertTrue</a:t>
            </a:r>
            <a:r>
              <a:rPr lang="en-IN" sz="1800" b="0" dirty="0">
                <a:solidFill>
                  <a:schemeClr val="tx1"/>
                </a:solidFill>
              </a:rPr>
              <a:t>(condition) </a:t>
            </a:r>
          </a:p>
          <a:p>
            <a:pPr marL="631508" lvl="3" indent="-274320">
              <a:lnSpc>
                <a:spcPct val="200000"/>
              </a:lnSpc>
              <a:tabLst>
                <a:tab pos="630238" algn="l"/>
              </a:tabLst>
            </a:pPr>
            <a:r>
              <a:rPr lang="en-IN" sz="1800" b="0" dirty="0">
                <a:solidFill>
                  <a:schemeClr val="tx1"/>
                </a:solidFill>
              </a:rPr>
              <a:t>  </a:t>
            </a:r>
            <a:r>
              <a:rPr lang="en-IN" sz="1800" b="0" dirty="0" err="1">
                <a:solidFill>
                  <a:schemeClr val="tx1"/>
                </a:solidFill>
              </a:rPr>
              <a:t>assertFalse</a:t>
            </a:r>
            <a:r>
              <a:rPr lang="en-IN" sz="1800" b="0" dirty="0">
                <a:solidFill>
                  <a:schemeClr val="tx1"/>
                </a:solidFill>
              </a:rPr>
              <a:t>(condition)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Boolean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125192" y="3166509"/>
          <a:ext cx="10316818" cy="2834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8566">
                <a:tc>
                  <a:txBody>
                    <a:bodyPr/>
                    <a:lstStyle/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testAssert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(){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var1=1;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var2=2;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assertTrue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(var1&lt;var2); //(1&lt;2) True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assertFalse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(var1&gt;var2); //(1&gt;2) False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}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585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b="0" dirty="0"/>
              <a:t>To check the initial value of an object/variable, you have the following methods:</a:t>
            </a:r>
          </a:p>
          <a:p>
            <a:pPr marL="274320" lvl="3" indent="-274320">
              <a:lnSpc>
                <a:spcPct val="200000"/>
              </a:lnSpc>
              <a:tabLst>
                <a:tab pos="630238" algn="l"/>
              </a:tabLst>
            </a:pPr>
            <a:r>
              <a:rPr lang="en-IN" sz="1800" b="0" dirty="0">
                <a:solidFill>
                  <a:schemeClr val="tx1"/>
                </a:solidFill>
              </a:rPr>
              <a:t>  </a:t>
            </a:r>
            <a:r>
              <a:rPr lang="en-IN" sz="1800" b="0" dirty="0" err="1">
                <a:solidFill>
                  <a:schemeClr val="tx1"/>
                </a:solidFill>
              </a:rPr>
              <a:t>assertNull</a:t>
            </a:r>
            <a:r>
              <a:rPr lang="en-IN" sz="1800" b="0" dirty="0">
                <a:solidFill>
                  <a:schemeClr val="tx1"/>
                </a:solidFill>
              </a:rPr>
              <a:t>(object) </a:t>
            </a:r>
          </a:p>
          <a:p>
            <a:pPr marL="274320" lvl="3" indent="-274320">
              <a:lnSpc>
                <a:spcPct val="200000"/>
              </a:lnSpc>
              <a:tabLst>
                <a:tab pos="630238" algn="l"/>
              </a:tabLst>
            </a:pPr>
            <a:r>
              <a:rPr lang="en-IN" sz="1800" b="0" dirty="0">
                <a:solidFill>
                  <a:schemeClr val="tx1"/>
                </a:solidFill>
              </a:rPr>
              <a:t>  </a:t>
            </a:r>
            <a:r>
              <a:rPr lang="en-IN" sz="1800" b="0" dirty="0" err="1">
                <a:solidFill>
                  <a:schemeClr val="tx1"/>
                </a:solidFill>
              </a:rPr>
              <a:t>assertNotNull</a:t>
            </a:r>
            <a:r>
              <a:rPr lang="en-IN" sz="1800" b="0" dirty="0">
                <a:solidFill>
                  <a:schemeClr val="tx1"/>
                </a:solidFill>
              </a:rPr>
              <a:t>(object)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Null Object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125192" y="3166509"/>
          <a:ext cx="10316818" cy="2560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8566">
                <a:tc>
                  <a:txBody>
                    <a:bodyPr/>
                    <a:lstStyle/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testAssert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(){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String str1="test";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String str2=null;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assertNotNull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(str1);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assertNull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(str5);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772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To check whether the objects are identical (i.e. comparing two references to the same java object), or different.</a:t>
            </a:r>
          </a:p>
          <a:p>
            <a:pPr marL="642938" lvl="3" indent="-285750">
              <a:lnSpc>
                <a:spcPct val="200000"/>
              </a:lnSpc>
            </a:pPr>
            <a:r>
              <a:rPr lang="en-US" sz="1800" b="0" dirty="0" err="1">
                <a:solidFill>
                  <a:schemeClr val="tx1"/>
                </a:solidFill>
              </a:rPr>
              <a:t>assertSame</a:t>
            </a:r>
            <a:r>
              <a:rPr lang="en-US" sz="1800" b="0" dirty="0">
                <a:solidFill>
                  <a:schemeClr val="tx1"/>
                </a:solidFill>
              </a:rPr>
              <a:t>(expected, actual)</a:t>
            </a:r>
          </a:p>
          <a:p>
            <a:pPr marL="642938" lvl="3" indent="-285750">
              <a:lnSpc>
                <a:spcPct val="200000"/>
              </a:lnSpc>
            </a:pPr>
            <a:r>
              <a:rPr lang="en-US" sz="1800" b="0" dirty="0">
                <a:solidFill>
                  <a:schemeClr val="tx1"/>
                </a:solidFill>
              </a:rPr>
              <a:t> </a:t>
            </a:r>
            <a:r>
              <a:rPr lang="en-US" sz="1800" b="0" dirty="0" err="1">
                <a:solidFill>
                  <a:schemeClr val="tx1"/>
                </a:solidFill>
              </a:rPr>
              <a:t>assertNotSame</a:t>
            </a:r>
            <a:r>
              <a:rPr lang="en-US" sz="1800" b="0" dirty="0">
                <a:solidFill>
                  <a:schemeClr val="tx1"/>
                </a:solidFill>
              </a:rPr>
              <a:t>(expected, actual)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Identical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125192" y="3604659"/>
          <a:ext cx="10316818" cy="2834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85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testAssert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(){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String str1="test";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String str2="test";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String str3="testing";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assertSame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(str1, str1);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assertNotSame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(str1, str3);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737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To test equality of two objects, you can use the following method</a:t>
            </a:r>
            <a:endParaRPr lang="en-IN" sz="1800" b="0" dirty="0"/>
          </a:p>
          <a:p>
            <a:pPr marL="274320" lvl="3" indent="-274320">
              <a:lnSpc>
                <a:spcPct val="200000"/>
              </a:lnSpc>
            </a:pPr>
            <a:r>
              <a:rPr lang="en-IN" sz="1800" b="0" dirty="0" err="1">
                <a:solidFill>
                  <a:schemeClr val="tx1"/>
                </a:solidFill>
              </a:rPr>
              <a:t>assertEquals</a:t>
            </a:r>
            <a:r>
              <a:rPr lang="en-IN" sz="1800" b="0" dirty="0">
                <a:solidFill>
                  <a:schemeClr val="tx1"/>
                </a:solidFill>
              </a:rPr>
              <a:t>(expected, actual)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Assert Equals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125192" y="2628900"/>
          <a:ext cx="10316818" cy="235087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0875">
                <a:tc>
                  <a:txBody>
                    <a:bodyPr/>
                    <a:lstStyle/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testAssert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(){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String str1="test";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String str2="test";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(str1,str2);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095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To test equality of two array objects, you can use the following method</a:t>
            </a:r>
            <a:endParaRPr lang="en-IN" sz="1800" b="0" dirty="0"/>
          </a:p>
          <a:p>
            <a:pPr marL="274320" lvl="3" indent="-274320">
              <a:lnSpc>
                <a:spcPct val="200000"/>
              </a:lnSpc>
            </a:pPr>
            <a:r>
              <a:rPr lang="en-IN" sz="1800" b="0" dirty="0" err="1">
                <a:solidFill>
                  <a:schemeClr val="tx1"/>
                </a:solidFill>
              </a:rPr>
              <a:t>assertArrayEquals</a:t>
            </a:r>
            <a:r>
              <a:rPr lang="en-IN" sz="1800" b="0" dirty="0">
                <a:solidFill>
                  <a:schemeClr val="tx1"/>
                </a:solidFill>
              </a:rPr>
              <a:t>(expected, actual)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Assert Array Equals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125192" y="2628900"/>
          <a:ext cx="10316818" cy="235087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0875">
                <a:tc>
                  <a:txBody>
                    <a:bodyPr/>
                    <a:lstStyle/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testAssert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(){</a:t>
                      </a:r>
                    </a:p>
                    <a:p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int[ ] array1= {1,2,3};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int[ ] array2= {1,2,3};</a:t>
                      </a:r>
                    </a:p>
                    <a:p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assertArrayEquals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(array1,array2);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633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/>
              <a:t>To throw any assertion error, you have </a:t>
            </a:r>
            <a:r>
              <a:rPr lang="en-US" sz="1800" b="0" dirty="0" err="1"/>
              <a:t>assertThrows</a:t>
            </a:r>
            <a:r>
              <a:rPr lang="en-US" sz="1800" b="0" dirty="0"/>
              <a:t>().</a:t>
            </a:r>
          </a:p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0" dirty="0" err="1"/>
              <a:t>assertThrows</a:t>
            </a:r>
            <a:r>
              <a:rPr lang="en-US" sz="2000" b="0" dirty="0"/>
              <a:t>(</a:t>
            </a:r>
            <a:r>
              <a:rPr lang="en-US" sz="2000" b="0" dirty="0" err="1"/>
              <a:t>expectedType</a:t>
            </a:r>
            <a:r>
              <a:rPr lang="en-US" sz="2000" b="0" dirty="0"/>
              <a:t>, executable, message)</a:t>
            </a:r>
          </a:p>
          <a:p>
            <a:pPr marL="274320" indent="-27432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0" dirty="0" err="1"/>
              <a:t>assertDoesNotThrows</a:t>
            </a:r>
            <a:r>
              <a:rPr lang="en-US" sz="1800" b="0" dirty="0"/>
              <a:t>(</a:t>
            </a:r>
            <a:r>
              <a:rPr lang="en-US" sz="1800" b="0" dirty="0" err="1"/>
              <a:t>expectedType</a:t>
            </a:r>
            <a:r>
              <a:rPr lang="en-US" sz="1800" b="0" dirty="0"/>
              <a:t>, executable, message)</a:t>
            </a:r>
            <a:endParaRPr lang="en-IN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JUnit Assertions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Exception Assertions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300A1F-7D47-BB72-F7B2-02F89BB780FF}"/>
              </a:ext>
            </a:extLst>
          </p:cNvPr>
          <p:cNvGraphicFramePr>
            <a:graphicFrameLocks noGrp="1"/>
          </p:cNvGraphicFramePr>
          <p:nvPr/>
        </p:nvGraphicFramePr>
        <p:xfrm>
          <a:off x="1241907" y="3233305"/>
          <a:ext cx="10316818" cy="2560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3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43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250000"/>
                        </a:lnSpc>
                      </a:pPr>
                      <a:r>
                        <a:rPr lang="en-US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assertThrows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ArithmeticException.class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() -&gt; {    int result = 1 / 0;}, "Division by zero should throw ArithmeticException");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250000"/>
                        </a:lnSpc>
                      </a:pPr>
                      <a:r>
                        <a:rPr lang="en-US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assertDoesNotThrow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(() -&gt; {    int result = 1 / 1;}, "This should not throw any exception");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777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Test case and Test suite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8EE1A4-6D7B-4E26-9B4B-BDB620B40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3CAA6D45-B244-406F-BF84-7E4D56E65CC6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977B8250-7F10-4E6C-A552-069F80C6DD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3852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a set of actions executed to verify a particular feature or functionality of software application behaves as expected</a:t>
            </a:r>
          </a:p>
          <a:p>
            <a:pPr marL="274320" lvl="1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includes variables or conditions, used to compare expected and actual results to examine whether a software product is functioning as per the requirements of the  customer</a:t>
            </a:r>
          </a:p>
          <a:p>
            <a:pPr marL="274320" lvl="1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JUnit, to write a test cases following needs to be followed.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RULE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   1) All the test methods must be marked with JUnit annotations @Test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   2) Test methods must be marked as “public” methods not to be marked as “private” 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        methods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   3)The return type of each test methods should be “void”</a:t>
            </a:r>
          </a:p>
          <a:p>
            <a:pPr marL="274320" lvl="1" indent="-274320"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4)The test methods should not start with keywords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Case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01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algn="l">
              <a:lnSpc>
                <a:spcPct val="200000"/>
              </a:lnSpc>
            </a:pP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Case-Example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D7B758-DCA4-46D9-38FA-0FC048745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125719"/>
              </p:ext>
            </p:extLst>
          </p:nvPr>
        </p:nvGraphicFramePr>
        <p:xfrm>
          <a:off x="1634094" y="1767067"/>
          <a:ext cx="9120497" cy="332386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120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3866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@DisplayName("Test sum of two positive numbers")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testSumOfPositiveNumbers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(5,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calculator.sum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 3), "Sum of 2 and 3 should be 5");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11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B52C3B-E14A-44ED-9F95-822EC9463F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2660" y="1263483"/>
            <a:ext cx="10576065" cy="5297972"/>
          </a:xfrm>
        </p:spPr>
        <p:txBody>
          <a:bodyPr/>
          <a:lstStyle/>
          <a:p>
            <a:pPr marL="274320" lvl="1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aggregation all test cases from multiple classes in one place and run it together in single go</a:t>
            </a:r>
          </a:p>
          <a:p>
            <a:pPr marL="274320" lvl="1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JUnit to run the suite test, we need to annotate a class using following annotations</a:t>
            </a:r>
          </a:p>
          <a:p>
            <a:pPr algn="l"/>
            <a:r>
              <a:rPr lang="en-US" sz="1800" b="0" dirty="0"/>
              <a:t>       </a:t>
            </a:r>
            <a:r>
              <a:rPr lang="en-US" sz="1800" dirty="0"/>
              <a:t>@Suite</a:t>
            </a:r>
          </a:p>
          <a:p>
            <a:pPr algn="l"/>
            <a:r>
              <a:rPr lang="en-US" sz="1800" dirty="0"/>
              <a:t>       @SelectClasses({ Test.class,Test1.class.. })</a:t>
            </a:r>
          </a:p>
          <a:p>
            <a:pPr marL="274320" lvl="1" indent="-274320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Steps to run test suite</a:t>
            </a:r>
          </a:p>
          <a:p>
            <a:pPr marL="274320" lvl="1" indent="-274320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Step 1)</a:t>
            </a:r>
            <a:r>
              <a:rPr lang="en-US" sz="1800" dirty="0">
                <a:solidFill>
                  <a:schemeClr val="tx1"/>
                </a:solidFill>
              </a:rPr>
              <a:t> Create more than one test class and add a method annotated with @test.</a:t>
            </a:r>
            <a:endParaRPr lang="en-US" sz="1800" b="1" dirty="0">
              <a:solidFill>
                <a:schemeClr val="tx1"/>
              </a:solidFill>
            </a:endParaRPr>
          </a:p>
          <a:p>
            <a:pPr marL="274320" lvl="1" indent="-274320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Step 2) </a:t>
            </a:r>
            <a:r>
              <a:rPr lang="en-US" sz="1800" dirty="0">
                <a:solidFill>
                  <a:schemeClr val="tx1"/>
                </a:solidFill>
              </a:rPr>
              <a:t>To create a </a:t>
            </a:r>
            <a:r>
              <a:rPr lang="en-US" sz="1800" dirty="0" err="1">
                <a:solidFill>
                  <a:schemeClr val="tx1"/>
                </a:solidFill>
              </a:rPr>
              <a:t>testSuite</a:t>
            </a:r>
            <a:r>
              <a:rPr lang="en-US" sz="1800" dirty="0">
                <a:solidFill>
                  <a:schemeClr val="tx1"/>
                </a:solidFill>
              </a:rPr>
              <a:t>, we need to first annotate the class with @Suite and @SelectClasses(</a:t>
            </a:r>
            <a:r>
              <a:rPr lang="en-US" sz="1800" dirty="0"/>
              <a:t>Test.class,Test1.class.. 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b="1" dirty="0">
              <a:solidFill>
                <a:schemeClr val="tx1"/>
              </a:solidFill>
            </a:endParaRPr>
          </a:p>
          <a:p>
            <a:pPr marL="274320" lvl="1" indent="-274320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Step 3) </a:t>
            </a:r>
            <a:r>
              <a:rPr lang="en-US" sz="1800" dirty="0">
                <a:solidFill>
                  <a:schemeClr val="tx1"/>
                </a:solidFill>
              </a:rPr>
              <a:t>Create a </a:t>
            </a:r>
            <a:r>
              <a:rPr lang="en-US" sz="1800" dirty="0" err="1">
                <a:solidFill>
                  <a:schemeClr val="tx1"/>
                </a:solidFill>
              </a:rPr>
              <a:t>AllTests</a:t>
            </a:r>
            <a:r>
              <a:rPr lang="en-US" sz="1800" dirty="0">
                <a:solidFill>
                  <a:schemeClr val="tx1"/>
                </a:solidFill>
              </a:rPr>
              <a:t> class to run our test suite as given below;</a:t>
            </a:r>
            <a:endParaRPr lang="en-US" sz="1800" b="1" dirty="0">
              <a:solidFill>
                <a:schemeClr val="tx1"/>
              </a:solidFill>
            </a:endParaRPr>
          </a:p>
          <a:p>
            <a:pPr marL="274320" lvl="1" indent="-274320">
              <a:lnSpc>
                <a:spcPct val="150000"/>
              </a:lnSpc>
            </a:pPr>
            <a:endParaRPr lang="en-US" sz="1800" b="1" dirty="0"/>
          </a:p>
          <a:p>
            <a:pPr marL="274320" lvl="1" indent="-274320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Suite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98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Suite - 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19E376-42A1-6D30-3609-5EC91A7E8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099188"/>
              </p:ext>
            </p:extLst>
          </p:nvPr>
        </p:nvGraphicFramePr>
        <p:xfrm>
          <a:off x="768044" y="1435921"/>
          <a:ext cx="5327956" cy="332386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32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38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class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CalculatorTest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@Test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testSetup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System.out.println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("This my first method");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7ADC3B-FF88-591C-77F0-CD8184C1F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55090"/>
              </p:ext>
            </p:extLst>
          </p:nvPr>
        </p:nvGraphicFramePr>
        <p:xfrm>
          <a:off x="6276109" y="1427307"/>
          <a:ext cx="5808517" cy="332386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808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38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class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StringValidatorTest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sz="1800" b="1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@Test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public void </a:t>
                      </a:r>
                      <a:r>
                        <a:rPr lang="en-IN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testSetup</a:t>
                      </a: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800" b="1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System.out.println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("This my second method");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648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Suite - 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19E376-42A1-6D30-3609-5EC91A7E8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84067"/>
              </p:ext>
            </p:extLst>
          </p:nvPr>
        </p:nvGraphicFramePr>
        <p:xfrm>
          <a:off x="1000248" y="1436832"/>
          <a:ext cx="10134477" cy="39319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134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386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import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org.junit.platform.suite.api.SelectClasses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;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import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org.junit.platform.suite.api.Suite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;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@Suite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@SelectClasses({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CalculatorTest.class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StringValidatorTest.class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})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</a:t>
                      </a:r>
                      <a:r>
                        <a:rPr lang="en-US" sz="1800" b="1" u="none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 </a:t>
                      </a:r>
                      <a:r>
                        <a:rPr lang="en-US" sz="1800" b="1" u="none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AllTests</a:t>
                      </a:r>
                      <a:r>
                        <a:rPr lang="en-US" sz="1800" b="1" u="none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{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875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Test case and Test suite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Test Suite - Output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5568" y="6648186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A48D21-4656-58FC-BBD8-CAD3E030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97" y="1151824"/>
            <a:ext cx="10136521" cy="530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88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8D53-3689-B49D-2A60-F1034731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8739660-1A2A-C958-FBB9-54A34116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Demo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48FABDA-7BF8-E691-BCD4-96223B7B5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91F573C-A437-7BE9-2692-3A30F65CE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5237696F-8C6D-FD8E-DCB0-694163D64AC5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DFD1562C-9E49-B084-DC5B-C82AC4D8179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4473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0C264-41AE-3F10-3620-470A2A1970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82AF10-5DDF-BE07-B7C9-776F6ADB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D079C-A6D3-D8E1-49C0-03645E5FB4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D8C461F-EFC7-921D-CFDD-FE6E1D331273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82662" y="965400"/>
            <a:ext cx="10499294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 and implement a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with methods to perform basic arithmetic operations, as well as additional utility methods for checking if a number is positive and returning an array of integers.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Requirements: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Arithmetic Methods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sum(int a, int 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takes two integers as input and returns their sum as an integer.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subtract(int a, int 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takes two integers as input and returns the result of subtracting b from a as an integer.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multiply(int a, int 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takes two integers as input and returns their product as an integer.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divide(int a, int 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takes two integers as input and returns the result of dividing a by b as a double. It should throw an ArithmeticException if division by zero is attempted.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Additional Methods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isPositive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(int number)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checks if a given integer is positive (greater than zero). It returns true if the number is positive, and false otherwise.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getArray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returns a static array of integers {1, 2, 3}.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524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6C4D-A8A2-C9CD-EAB9-BEBAE7E2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71791-B417-18BD-6074-B273DB80A1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C82D0A-977D-FE75-87A8-655B92E4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24C2F-B458-2D39-EBF1-F5FA2997BE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DAECBC-34C9-FC7A-6B36-C259742F408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82663" y="1013516"/>
            <a:ext cx="10270692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0" dirty="0"/>
              <a:t>Create a </a:t>
            </a:r>
            <a:r>
              <a:rPr lang="en-US" altLang="en-US" sz="1600" dirty="0"/>
              <a:t>set of unit tests for the Calculator class using JUnit 5</a:t>
            </a:r>
            <a:r>
              <a:rPr lang="en-US" altLang="en-US" sz="1600" b="0" dirty="0"/>
              <a:t>. The tests should ensure the correctness of basic arithmetic operations and utility methods provided by the Calculator class.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 Test Setup</a:t>
            </a:r>
            <a:r>
              <a:rPr lang="en-US" altLang="en-US" sz="1600" b="0" dirty="0"/>
              <a:t>: Ensure the Calculator object is initialized before each test and cleaned up after each test.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 Test Cases: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Sum Method :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with positive numbers.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with negative numbers.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with repeated execution (using @RepeatedTest).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Subtraction Method :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basic subtraction.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subtraction with negative result.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Multiplication Method :</a:t>
            </a: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Test multiplication of numbers using @ParameterizedTest with a set of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F16272A-FF74-4984-C73B-0A3F7EAE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74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A3A8-5612-AE5A-7348-3196D146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DA712-FA06-48A6-FEBC-579B9FA46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813995-1F34-1974-1B59-E650A817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D57DD-EA5B-B862-47F3-761A5EC99A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02AF5E-3249-3F16-0256-3D97D0DD8E9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89012" y="1320730"/>
            <a:ext cx="10270692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Division Method :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division with a non-zero denominator.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division by zero (should throw an ArithmeticException).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Utility Methods :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the </a:t>
            </a:r>
            <a:r>
              <a:rPr lang="en-US" altLang="en-US" sz="1600" dirty="0" err="1">
                <a:solidFill>
                  <a:schemeClr val="tx1"/>
                </a:solidFill>
              </a:rPr>
              <a:t>isPositive</a:t>
            </a:r>
            <a:r>
              <a:rPr lang="en-US" altLang="en-US" sz="1600" dirty="0">
                <a:solidFill>
                  <a:schemeClr val="tx1"/>
                </a:solidFill>
              </a:rPr>
              <a:t> method with multiple values.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</a:rPr>
              <a:t> Test the </a:t>
            </a:r>
            <a:r>
              <a:rPr lang="en-US" altLang="en-US" sz="1600" dirty="0" err="1">
                <a:solidFill>
                  <a:schemeClr val="tx1"/>
                </a:solidFill>
              </a:rPr>
              <a:t>getArray</a:t>
            </a:r>
            <a:r>
              <a:rPr lang="en-US" altLang="en-US" sz="1600" dirty="0">
                <a:solidFill>
                  <a:schemeClr val="tx1"/>
                </a:solidFill>
              </a:rPr>
              <a:t>() method to ensure it returns the expected array.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lang="en-US" altLang="en-US" sz="1600" b="1" dirty="0">
                <a:solidFill>
                  <a:schemeClr val="tx1"/>
                </a:solidFill>
              </a:rPr>
              <a:t>Edge Cases :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>
                <a:solidFill>
                  <a:schemeClr val="tx1"/>
                </a:solidFill>
              </a:rPr>
              <a:t> Handle </a:t>
            </a:r>
            <a:r>
              <a:rPr lang="en-US" altLang="en-US" sz="1600" dirty="0">
                <a:solidFill>
                  <a:schemeClr val="tx1"/>
                </a:solidFill>
              </a:rPr>
              <a:t>edge cases such as division by zero and test array equality</a:t>
            </a:r>
            <a:endParaRPr lang="en-US" sz="16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4FBB8A5-1098-0710-A2A5-3E976F0CC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497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E366-1A4F-0768-5A10-A64791FF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5DC66-BBF8-F383-DD22-FF88C2907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3613" y="325120"/>
            <a:ext cx="10922000" cy="371475"/>
          </a:xfrm>
        </p:spPr>
        <p:txBody>
          <a:bodyPr/>
          <a:lstStyle/>
          <a:p>
            <a:r>
              <a:rPr lang="en-US" sz="1600" dirty="0"/>
              <a:t>JUnit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7D1505-1079-F222-C880-97461508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674471"/>
            <a:ext cx="10922400" cy="381484"/>
          </a:xfrm>
        </p:spPr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845BF-F396-A6CB-6833-48B8482BB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6518" y="6619611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EBD273-B821-05CB-6E43-71B9022A6D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3611" y="1477964"/>
            <a:ext cx="10922001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1C2F74-98A4-15FB-22F9-D8764B02D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189885"/>
              </p:ext>
            </p:extLst>
          </p:nvPr>
        </p:nvGraphicFramePr>
        <p:xfrm>
          <a:off x="977236" y="1260860"/>
          <a:ext cx="10908376" cy="53035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90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public class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CalculatorTest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private Calculator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@BeforeAll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public static 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initAll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System.out.println("Initializing resources for all tests...");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@AfterAll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static 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cleanUpAll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System.out.println("Cleaning up resources after all tests...");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@BeforeEach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setUp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System.out.println("Setting up for the test...");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calculator = new Calculator();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@AfterEach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tearDown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System.out.println("Tearing down after the test...");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277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3613" y="325120"/>
            <a:ext cx="10922000" cy="371475"/>
          </a:xfrm>
        </p:spPr>
        <p:txBody>
          <a:bodyPr/>
          <a:lstStyle/>
          <a:p>
            <a:r>
              <a:rPr lang="en-US" sz="1600" dirty="0"/>
              <a:t>JUnit Annotations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674471"/>
            <a:ext cx="10922400" cy="381484"/>
          </a:xfrm>
        </p:spPr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6518" y="6619611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891F344-045E-9D17-FF77-4228DC48D8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3611" y="1477964"/>
            <a:ext cx="10922001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03FC8E-B589-0F2C-0C24-8F825902C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32102"/>
              </p:ext>
            </p:extLst>
          </p:nvPr>
        </p:nvGraphicFramePr>
        <p:xfrm>
          <a:off x="977236" y="1260860"/>
          <a:ext cx="10908376" cy="53035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90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sum of two positive numbers")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testSumOfPositiveNumbers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calculator.sum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(2, 3), "Sum of 2 and 3 should be 5");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sum of two negative numbers")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testSumOfNegativeNumbers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(-5,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calculator.sum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(-2, -3), "Sum of -2 and -3 should be -5");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@RepeatedTest(3)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sum with repeated execution")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testSumRepeated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RepetitionInfo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repetitionInfo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{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System.out.println("Running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testAdditionRepeatedly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... Repetition: " +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repetitionInfo.getCurrentRepetition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());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calculator.sum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(5, 5), "Sum of 5 and 5 should be 10");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151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D670-7EE8-6DAC-8582-E45D705D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C50D-7D38-C412-400B-967F2EF065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3613" y="325120"/>
            <a:ext cx="10922000" cy="371475"/>
          </a:xfrm>
        </p:spPr>
        <p:txBody>
          <a:bodyPr/>
          <a:lstStyle/>
          <a:p>
            <a:r>
              <a:rPr lang="en-US" sz="1600" dirty="0"/>
              <a:t>JUnit Annotations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56DDB-0DB3-413B-DC5D-13612038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674471"/>
            <a:ext cx="10922400" cy="381484"/>
          </a:xfrm>
        </p:spPr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5296C-C7F1-911C-850E-083C7AA239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6518" y="6619611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20FA1B-1BD0-53CB-C4A2-D722B212D8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3611" y="1477964"/>
            <a:ext cx="10922001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FC487A-ED6E-CF63-D29F-D0060281F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34029"/>
              </p:ext>
            </p:extLst>
          </p:nvPr>
        </p:nvGraphicFramePr>
        <p:xfrm>
          <a:off x="977236" y="1260860"/>
          <a:ext cx="10908376" cy="47548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90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@Nested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@DisplayName("Subtraction Tests")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SubtractionTests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{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subtraction of two numbers")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testSubtraction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calculator.subtract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(5, 4), "5 - 4 should be 1");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subtraction with negative result")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testSubtractionNegative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(-1,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calculator.subtract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(4, 5), "4 - 5 should be -1");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488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5A17-3E3B-BF08-65A4-8BA76EE0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4C1D-EBD7-1603-4C09-83B4D940A7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3613" y="325120"/>
            <a:ext cx="10922000" cy="371475"/>
          </a:xfrm>
        </p:spPr>
        <p:txBody>
          <a:bodyPr/>
          <a:lstStyle/>
          <a:p>
            <a:r>
              <a:rPr lang="en-US" sz="1600" dirty="0"/>
              <a:t>JUnit Annotations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27EA6D-ACB7-276B-CC1E-0363208D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674471"/>
            <a:ext cx="10922400" cy="381484"/>
          </a:xfrm>
        </p:spPr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Example</a:t>
            </a:r>
            <a:endParaRPr lang="de-DE" dirty="0">
              <a:solidFill>
                <a:srgbClr val="512E6E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2DB9-89DF-6F71-720E-89DDA3E627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6518" y="6619611"/>
            <a:ext cx="594043" cy="259497"/>
          </a:xfrm>
        </p:spPr>
        <p:txBody>
          <a:bodyPr/>
          <a:lstStyle/>
          <a:p>
            <a:fld id="{64EFF315-FA4E-4084-ACCF-A94C350B883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CAA33C-B3D0-3FDB-3C45-4F4D7AD9D0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3611" y="1477964"/>
            <a:ext cx="10922001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864200-137E-C8A7-8B79-F6017BDDF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44484"/>
              </p:ext>
            </p:extLst>
          </p:nvPr>
        </p:nvGraphicFramePr>
        <p:xfrm>
          <a:off x="977236" y="1260860"/>
          <a:ext cx="10908376" cy="5029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090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@ParameterizedTest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@ValueSource(ints = { 1, 2, 3, 4, 5 })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multiplication of numbers by 2")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testMultiplyByTwo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(int number)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(number * 2,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calculator.multiply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(number, 2), "Multiplying by 2 should return correct result");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division with non-zero denominator")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testDivide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assertEquals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(2.0,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calculator.divide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(10, 5), "10 divided by 5 should be 2");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@Test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@DisplayName("Test division by zero")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testDivideByZero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{</a:t>
                      </a:r>
                    </a:p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assertThrows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ArithmeticException.class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() -&gt;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calculator.divide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(10, 0),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"Division by zero should throw ArithmeticException");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80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342900" lvl="0" indent="-342900" algn="just">
              <a:spcBef>
                <a:spcPct val="0"/>
              </a:spcBef>
              <a:buFont typeface="+mj-lt"/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What should be the return type of JUnit methods 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148759" y="2209801"/>
            <a:ext cx="2928441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382450" y="2238375"/>
            <a:ext cx="2928441" cy="520103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b)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146958" y="3248025"/>
            <a:ext cx="2996918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369418" y="3273590"/>
            <a:ext cx="2941473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110784" y="4457701"/>
            <a:ext cx="2928441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b)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82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Java Database Connectivity (JDBC)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274320" lvl="0" indent="-274320" algn="just">
              <a:lnSpc>
                <a:spcPct val="20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2. Testing is defined as testing of single entity (class or method) ?</a:t>
            </a: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146958" y="2819400"/>
            <a:ext cx="2539717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102560" y="2796232"/>
            <a:ext cx="2346366" cy="47526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False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096000" y="3944921"/>
            <a:ext cx="2271216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a) True</a:t>
            </a:r>
          </a:p>
        </p:txBody>
      </p:sp>
    </p:spTree>
    <p:extLst>
      <p:ext uri="{BB962C8B-B14F-4D97-AF65-F5344CB8AC3E}">
        <p14:creationId xmlns:p14="http://schemas.microsoft.com/office/powerpoint/2010/main" val="73393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just">
              <a:spcBef>
                <a:spcPct val="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3. Which of the following class is a Composite of Tests 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148759" y="2209801"/>
            <a:ext cx="2928441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Test cases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382450" y="2238375"/>
            <a:ext cx="2928441" cy="520103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b)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Composite Test</a:t>
            </a: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146958" y="3248025"/>
            <a:ext cx="2996918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Test Suite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369418" y="3273590"/>
            <a:ext cx="2941473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Asserts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110784" y="4457701"/>
            <a:ext cx="2928441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Test Suite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94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just">
              <a:spcBef>
                <a:spcPct val="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. Which of the annotations of Assert class checks a condition is false 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4996359" y="2228851"/>
            <a:ext cx="3204633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assertEquals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382450" y="2238375"/>
            <a:ext cx="3238050" cy="520103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b)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assertFalse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070758" y="3248025"/>
            <a:ext cx="2996918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assertTrue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369418" y="3273590"/>
            <a:ext cx="3251082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assertChecks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334125" y="4457701"/>
            <a:ext cx="3981450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b)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assertFalse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6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274320" lvl="0" indent="-274320" algn="just">
              <a:lnSpc>
                <a:spcPct val="150000"/>
              </a:lnSpc>
              <a:spcBef>
                <a:spcPct val="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5. Which of the following annotation in JUnit specifies the public void method to run a test case 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229224" y="2579062"/>
            <a:ext cx="2690512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@Test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574092" y="2600325"/>
            <a:ext cx="2894008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b)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@BeforeClass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229224" y="3352799"/>
            <a:ext cx="2838451" cy="423519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@BeforeSuite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534400" y="3359315"/>
            <a:ext cx="3009900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@BeforeTest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334125" y="4457701"/>
            <a:ext cx="3981450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a)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@Test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4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just">
              <a:spcBef>
                <a:spcPct val="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6. What does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assertSame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() method use for assertion?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229224" y="2083762"/>
            <a:ext cx="2690512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Equals(</a:t>
            </a:r>
            <a:r>
              <a:rPr lang="en-I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440741" y="2124075"/>
            <a:ext cx="3109835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b)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Same(cond1,cond2)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229224" y="3028949"/>
            <a:ext cx="2838451" cy="423519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515350" y="3006890"/>
            <a:ext cx="3009900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334125" y="4114801"/>
            <a:ext cx="3981450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8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7.  Guess the output</a:t>
            </a:r>
          </a:p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@Test</a:t>
            </a:r>
          </a:p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public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testAssert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String message = “Hello”;</a:t>
            </a:r>
          </a:p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assertEquals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(3,message.length());</a:t>
            </a:r>
          </a:p>
          <a:p>
            <a:pPr marL="274320" indent="-274320" fontAlgn="t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}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229223" y="4179262"/>
            <a:ext cx="2838451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Runtime Error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402641" y="4181475"/>
            <a:ext cx="3217859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b)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Test Ran and passed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229225" y="5076824"/>
            <a:ext cx="2838450" cy="423519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Test Ran and failed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391525" y="5026190"/>
            <a:ext cx="3143250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Compilation Error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334125" y="5943601"/>
            <a:ext cx="3981450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Test Ran and failed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0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Java Database Connectivity (JDBC)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274320" lvl="0" indent="-274320" algn="just">
              <a:lnSpc>
                <a:spcPct val="20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8. Is assert a keyword in Java ?</a:t>
            </a: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146958" y="2457450"/>
            <a:ext cx="2539717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102560" y="2434282"/>
            <a:ext cx="2346366" cy="47526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False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096000" y="3717080"/>
            <a:ext cx="2271216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a) True</a:t>
            </a:r>
          </a:p>
        </p:txBody>
      </p:sp>
    </p:spTree>
    <p:extLst>
      <p:ext uri="{BB962C8B-B14F-4D97-AF65-F5344CB8AC3E}">
        <p14:creationId xmlns:p14="http://schemas.microsoft.com/office/powerpoint/2010/main" val="270536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2F0E7-2B6F-4DDC-8BEA-0AC17434B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679DD6-BB4D-4DB2-858F-3D89BDEE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12E6E"/>
                </a:solidFill>
              </a:rPr>
              <a:t>Quiz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92322-D235-4764-9178-D3BE35972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33" name="Picture 2" descr="C:\Users\MY PC\Downloads\quiz.jpg">
            <a:extLst>
              <a:ext uri="{FF2B5EF4-FFF2-40B4-BE49-F238E27FC236}">
                <a16:creationId xmlns:a16="http://schemas.microsoft.com/office/drawing/2014/main" id="{18CCB575-DD43-4310-9B31-3F27C6F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410" y="1416416"/>
            <a:ext cx="3687991" cy="2277485"/>
          </a:xfrm>
          <a:prstGeom prst="rect">
            <a:avLst/>
          </a:prstGeom>
          <a:noFill/>
        </p:spPr>
      </p:pic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5340DEB3-F8B5-4FBA-992E-F36974E344A8}"/>
              </a:ext>
            </a:extLst>
          </p:cNvPr>
          <p:cNvSpPr txBox="1">
            <a:spLocks/>
          </p:cNvSpPr>
          <p:nvPr/>
        </p:nvSpPr>
        <p:spPr>
          <a:xfrm>
            <a:off x="4665401" y="1407671"/>
            <a:ext cx="7279671" cy="4799993"/>
          </a:xfrm>
          <a:prstGeom prst="rect">
            <a:avLst/>
          </a:prstGeom>
        </p:spPr>
        <p:txBody>
          <a:bodyPr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213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700" b="1" dirty="0">
              <a:solidFill>
                <a:srgbClr val="2127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SemiBold"/>
            </a:endParaRPr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30F6B62A-6602-4DAB-9E7F-B93B6FE7A79B}"/>
              </a:ext>
            </a:extLst>
          </p:cNvPr>
          <p:cNvSpPr txBox="1">
            <a:spLocks/>
          </p:cNvSpPr>
          <p:nvPr/>
        </p:nvSpPr>
        <p:spPr>
          <a:xfrm>
            <a:off x="5081285" y="1290409"/>
            <a:ext cx="6984045" cy="47999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just">
              <a:spcBef>
                <a:spcPct val="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9. Which methods cannot be tested by JUnit test class?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C72895C-724B-4F3B-8B7D-1E20525C8858}"/>
              </a:ext>
            </a:extLst>
          </p:cNvPr>
          <p:cNvSpPr txBox="1">
            <a:spLocks/>
          </p:cNvSpPr>
          <p:nvPr/>
        </p:nvSpPr>
        <p:spPr>
          <a:xfrm>
            <a:off x="5101134" y="2202750"/>
            <a:ext cx="2718891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a)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methods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DD02A71-7B39-47B4-A50F-B853F77F67BB}"/>
              </a:ext>
            </a:extLst>
          </p:cNvPr>
          <p:cNvSpPr txBox="1">
            <a:spLocks/>
          </p:cNvSpPr>
          <p:nvPr/>
        </p:nvSpPr>
        <p:spPr>
          <a:xfrm>
            <a:off x="8382450" y="2219325"/>
            <a:ext cx="3047550" cy="520103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b)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protected methods</a:t>
            </a:r>
          </a:p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8C1750CD-66E2-A919-C442-6EAF62F0AF8B}"/>
              </a:ext>
            </a:extLst>
          </p:cNvPr>
          <p:cNvSpPr txBox="1">
            <a:spLocks/>
          </p:cNvSpPr>
          <p:nvPr/>
        </p:nvSpPr>
        <p:spPr>
          <a:xfrm>
            <a:off x="5070758" y="3209925"/>
            <a:ext cx="2749267" cy="433044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private methods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91276862-7FD9-0752-40AA-8119C0AB9152}"/>
              </a:ext>
            </a:extLst>
          </p:cNvPr>
          <p:cNvSpPr txBox="1">
            <a:spLocks/>
          </p:cNvSpPr>
          <p:nvPr/>
        </p:nvSpPr>
        <p:spPr>
          <a:xfrm>
            <a:off x="8369418" y="3254540"/>
            <a:ext cx="3138598" cy="433045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void return methods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57954E1-B999-4D54-46F0-1B9E95842D2A}"/>
              </a:ext>
            </a:extLst>
          </p:cNvPr>
          <p:cNvSpPr txBox="1">
            <a:spLocks/>
          </p:cNvSpPr>
          <p:nvPr/>
        </p:nvSpPr>
        <p:spPr>
          <a:xfrm>
            <a:off x="6210300" y="4229101"/>
            <a:ext cx="3981450" cy="55115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793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3571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53657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15963" indent="-1746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c)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private methods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3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Newco_Master_2019">
  <a:themeElements>
    <a:clrScheme name="Benutzerdefiniert 52">
      <a:dk1>
        <a:sysClr val="windowText" lastClr="000000"/>
      </a:dk1>
      <a:lt1>
        <a:srgbClr val="FFFFFF"/>
      </a:lt1>
      <a:dk2>
        <a:srgbClr val="404040"/>
      </a:dk2>
      <a:lt2>
        <a:srgbClr val="E2E2E2"/>
      </a:lt2>
      <a:accent1>
        <a:srgbClr val="6846C6"/>
      </a:accent1>
      <a:accent2>
        <a:srgbClr val="805CE5"/>
      </a:accent2>
      <a:accent3>
        <a:srgbClr val="23B3D9"/>
      </a:accent3>
      <a:accent4>
        <a:srgbClr val="4BCCB9"/>
      </a:accent4>
      <a:accent5>
        <a:srgbClr val="BC22BF"/>
      </a:accent5>
      <a:accent6>
        <a:srgbClr val="EC6F62"/>
      </a:accent6>
      <a:hlink>
        <a:srgbClr val="C2B5E8"/>
      </a:hlink>
      <a:folHlink>
        <a:srgbClr val="92E0D5"/>
      </a:folHlink>
    </a:clrScheme>
    <a:fontScheme name="Newco_Maste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88677643-4416-442D-84FA-09D129C65FED}" vid="{BBD83252-DE09-4ACF-83D0-3D31216BB30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Newco_Farben">
      <a:dk1>
        <a:sysClr val="windowText" lastClr="000000"/>
      </a:dk1>
      <a:lt1>
        <a:srgbClr val="FFFFFF"/>
      </a:lt1>
      <a:dk2>
        <a:srgbClr val="404040"/>
      </a:dk2>
      <a:lt2>
        <a:srgbClr val="E2E2E2"/>
      </a:lt2>
      <a:accent1>
        <a:srgbClr val="6846C6"/>
      </a:accent1>
      <a:accent2>
        <a:srgbClr val="805CE5"/>
      </a:accent2>
      <a:accent3>
        <a:srgbClr val="23B3D9"/>
      </a:accent3>
      <a:accent4>
        <a:srgbClr val="4BCCB9"/>
      </a:accent4>
      <a:accent5>
        <a:srgbClr val="BC22BF"/>
      </a:accent5>
      <a:accent6>
        <a:srgbClr val="EC6F62"/>
      </a:accent6>
      <a:hlink>
        <a:srgbClr val="6846C6"/>
      </a:hlink>
      <a:folHlink>
        <a:srgbClr val="23B3D9"/>
      </a:folHlink>
    </a:clrScheme>
    <a:fontScheme name="Benutzerdefiniert 39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866F6970D0494894EBDF34D6F444F4" ma:contentTypeVersion="15" ma:contentTypeDescription="Create a new document." ma:contentTypeScope="" ma:versionID="a27df6c28a3de93aa479a89eb269b8dd">
  <xsd:schema xmlns:xsd="http://www.w3.org/2001/XMLSchema" xmlns:xs="http://www.w3.org/2001/XMLSchema" xmlns:p="http://schemas.microsoft.com/office/2006/metadata/properties" xmlns:ns2="ffdbada3-dfd2-483a-b612-49c7a3457d17" targetNamespace="http://schemas.microsoft.com/office/2006/metadata/properties" ma:root="true" ma:fieldsID="abf902a511cc35adac181b94a37de348" ns2:_="">
    <xsd:import namespace="ffdbada3-dfd2-483a-b612-49c7a3457d17"/>
    <xsd:element name="properties">
      <xsd:complexType>
        <xsd:sequence>
          <xsd:element name="documentManagement">
            <xsd:complexType>
              <xsd:all>
                <xsd:element ref="ns2:Document_x0020_Type" minOccurs="0"/>
                <xsd:element ref="ns2:Purpose" minOccurs="0"/>
                <xsd:element ref="ns2:Language" minOccurs="0"/>
                <xsd:element ref="ns2:Industry" minOccurs="0"/>
                <xsd:element ref="ns2:Description0" minOccurs="0"/>
                <xsd:element ref="ns2:Author_x0020__x002f__x0020_Entity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bada3-dfd2-483a-b612-49c7a3457d17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8" nillable="true" ma:displayName="Document Type" ma:format="Dropdown" ma:internalName="Document_x0020_Type">
      <xsd:simpleType>
        <xsd:restriction base="dms:Choice">
          <xsd:enumeration value="Logo Package"/>
          <xsd:enumeration value="E-Mail Signature"/>
          <xsd:enumeration value="E-Mail Template"/>
          <xsd:enumeration value="E-Card"/>
          <xsd:enumeration value="Guideline"/>
          <xsd:enumeration value="Instruction"/>
          <xsd:enumeration value="Boilerplate"/>
          <xsd:enumeration value="PowerPoint Master"/>
          <xsd:enumeration value="PowerPoint Slide Deck"/>
          <xsd:enumeration value="Word Template"/>
          <xsd:enumeration value="Word Document"/>
          <xsd:enumeration value="Excel Template"/>
          <xsd:enumeration value="Letterhead"/>
          <xsd:enumeration value="Compliment Slip"/>
          <xsd:enumeration value="Brochure / Flyer"/>
          <xsd:enumeration value="Trend Report"/>
          <xsd:enumeration value="Poster"/>
          <xsd:enumeration value="Corporate Presentation"/>
          <xsd:enumeration value="Company Profile"/>
          <xsd:enumeration value="Client Case Study"/>
          <xsd:enumeration value="Client Case Study (anonymous)"/>
          <xsd:enumeration value="Desktop Wallpaper"/>
          <xsd:enumeration value="Social Profile Header"/>
          <xsd:enumeration value="Video/Animation"/>
          <xsd:enumeration value="Catalogue"/>
          <xsd:enumeration value="Order Form"/>
          <xsd:enumeration value="Background Picture"/>
          <xsd:enumeration value="Whitepaper"/>
        </xsd:restriction>
      </xsd:simpleType>
    </xsd:element>
    <xsd:element name="Purpose" ma:index="9" nillable="true" ma:displayName="Purpose" ma:format="Dropdown" ma:internalName="Purpo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twork"/>
                    <xsd:enumeration value="Template"/>
                    <xsd:enumeration value="Office Supplies"/>
                    <xsd:enumeration value="Give-aways"/>
                    <xsd:enumeration value="Background Knowledge"/>
                    <xsd:enumeration value="Internal-facing collateral"/>
                    <xsd:enumeration value="External-facing collateral"/>
                  </xsd:restriction>
                </xsd:simpleType>
              </xsd:element>
            </xsd:sequence>
          </xsd:extension>
        </xsd:complexContent>
      </xsd:complexType>
    </xsd:element>
    <xsd:element name="Language" ma:index="10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  <xsd:element name="Industry" ma:index="11" nillable="true" ma:displayName="Industry" ma:format="Dropdown" ma:internalName="Indust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 &amp; Defence"/>
                    <xsd:enumeration value="Automotive"/>
                    <xsd:enumeration value="Transportation"/>
                    <xsd:enumeration value="BFSI"/>
                    <xsd:enumeration value="Naval"/>
                    <xsd:enumeration value="Industrial"/>
                    <xsd:enumeration value="Healthcare"/>
                    <xsd:enumeration value="Energy &amp; Utilities"/>
                    <xsd:enumeration value="Public Sector"/>
                    <xsd:enumeration value="Retail &amp; Logistics"/>
                    <xsd:enumeration value="Telecom"/>
                    <xsd:enumeration value="Cross-Industries"/>
                  </xsd:restriction>
                </xsd:simpleType>
              </xsd:element>
            </xsd:sequence>
          </xsd:extension>
        </xsd:complexContent>
      </xsd:complexType>
    </xsd:element>
    <xsd:element name="Description0" ma:index="12" nillable="true" ma:displayName="Description" ma:internalName="Description0">
      <xsd:simpleType>
        <xsd:restriction base="dms:Note">
          <xsd:maxLength value="255"/>
        </xsd:restriction>
      </xsd:simpleType>
    </xsd:element>
    <xsd:element name="Author_x0020__x002f__x0020_Entity" ma:index="13" nillable="true" ma:displayName="Author / Entity" ma:internalName="Author_x0020__x002f__x0020_Entity">
      <xsd:simpleType>
        <xsd:restriction base="dms:Text">
          <xsd:maxLength value="255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ffdbada3-dfd2-483a-b612-49c7a3457d17" xsi:nil="true"/>
    <Author_x0020__x002f__x0020_Entity xmlns="ffdbada3-dfd2-483a-b612-49c7a3457d17" xsi:nil="true"/>
    <Purpose xmlns="ffdbada3-dfd2-483a-b612-49c7a3457d17">
      <Value>Template</Value>
    </Purpose>
    <Industry xmlns="ffdbada3-dfd2-483a-b612-49c7a3457d17"/>
    <Language xmlns="ffdbada3-dfd2-483a-b612-49c7a3457d17" xsi:nil="true"/>
    <Document_x0020_Type xmlns="ffdbada3-dfd2-483a-b612-49c7a3457d17">PowerPoint Master</Document_x0020_Type>
  </documentManagement>
</p:properties>
</file>

<file path=customXml/itemProps1.xml><?xml version="1.0" encoding="utf-8"?>
<ds:datastoreItem xmlns:ds="http://schemas.openxmlformats.org/officeDocument/2006/customXml" ds:itemID="{1BDE452E-FB48-464D-969A-606E9B145B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B77997-3B9C-4D25-997B-164046D290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bada3-dfd2-483a-b612-49c7a3457d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B602E3-AF99-41CC-8DE6-DF6DE3C02002}">
  <ds:schemaRefs>
    <ds:schemaRef ds:uri="http://purl.org/dc/dcmitype/"/>
    <ds:schemaRef ds:uri="http://www.w3.org/XML/1998/namespace"/>
    <ds:schemaRef ds:uri="ffdbada3-dfd2-483a-b612-49c7a3457d17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for comprehensive contents</Template>
  <TotalTime>8312</TotalTime>
  <Words>2868</Words>
  <Application>Microsoft Office PowerPoint</Application>
  <PresentationFormat>Widescreen</PresentationFormat>
  <Paragraphs>547</Paragraphs>
  <Slides>53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Montserrat SemiBold</vt:lpstr>
      <vt:lpstr>Segoe UI</vt:lpstr>
      <vt:lpstr>Verdana</vt:lpstr>
      <vt:lpstr>Newco_Master_2019</vt:lpstr>
      <vt:lpstr>JUnit</vt:lpstr>
      <vt:lpstr>PowerPoint Presentation</vt:lpstr>
      <vt:lpstr>Unit Testing</vt:lpstr>
      <vt:lpstr>Unit Testing</vt:lpstr>
      <vt:lpstr>Unit Testing</vt:lpstr>
      <vt:lpstr>Manual Testing Vs Automation Testing</vt:lpstr>
      <vt:lpstr>Popular Unit Testing Tools</vt:lpstr>
      <vt:lpstr>Popular Unit Testing Tools</vt:lpstr>
      <vt:lpstr>JUnit</vt:lpstr>
      <vt:lpstr>JUnit</vt:lpstr>
      <vt:lpstr>Advantages</vt:lpstr>
      <vt:lpstr>JUnit with Eclipse</vt:lpstr>
      <vt:lpstr>JUnit with Eclipse</vt:lpstr>
      <vt:lpstr>JUnit with Eclipse</vt:lpstr>
      <vt:lpstr>JUnit with Eclipse</vt:lpstr>
      <vt:lpstr>JUnit with Eclipse</vt:lpstr>
      <vt:lpstr>JUnit with Eclipse</vt:lpstr>
      <vt:lpstr>JUnit Annotations</vt:lpstr>
      <vt:lpstr>Definition</vt:lpstr>
      <vt:lpstr>Annotations with explanation</vt:lpstr>
      <vt:lpstr>JUnit Assertions</vt:lpstr>
      <vt:lpstr>Definition</vt:lpstr>
      <vt:lpstr>Commonly used Assertions</vt:lpstr>
      <vt:lpstr>Boolean</vt:lpstr>
      <vt:lpstr>Null Object</vt:lpstr>
      <vt:lpstr>Identical</vt:lpstr>
      <vt:lpstr>Assert Equals</vt:lpstr>
      <vt:lpstr>Assert Array Equals</vt:lpstr>
      <vt:lpstr>Exception Assertions</vt:lpstr>
      <vt:lpstr>Test case and Test suite</vt:lpstr>
      <vt:lpstr>Test Case</vt:lpstr>
      <vt:lpstr>Test Case-Example</vt:lpstr>
      <vt:lpstr>Test Suite</vt:lpstr>
      <vt:lpstr>Test Suite - Example</vt:lpstr>
      <vt:lpstr>Test Suite - Example</vt:lpstr>
      <vt:lpstr>Test Suite - Output</vt:lpstr>
      <vt:lpstr>Demo</vt:lpstr>
      <vt:lpstr>Problem Statement</vt:lpstr>
      <vt:lpstr>Problem Statement</vt:lpstr>
      <vt:lpstr>Problem Statement</vt:lpstr>
      <vt:lpstr>Example</vt:lpstr>
      <vt:lpstr>Example</vt:lpstr>
      <vt:lpstr>Example</vt:lpstr>
      <vt:lpstr>Example</vt:lpstr>
      <vt:lpstr>Quiz  </vt:lpstr>
      <vt:lpstr>Quiz  </vt:lpstr>
      <vt:lpstr>Quiz  </vt:lpstr>
      <vt:lpstr>Quiz  </vt:lpstr>
      <vt:lpstr>Quiz  </vt:lpstr>
      <vt:lpstr>Quiz  </vt:lpstr>
      <vt:lpstr>Quiz  </vt:lpstr>
      <vt:lpstr>Quiz  </vt:lpstr>
      <vt:lpstr>Quiz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42pt, bold max. 3 lines</dc:title>
  <dc:creator>smartcliff@montbleu.com</dc:creator>
  <cp:lastModifiedBy>Lenovo</cp:lastModifiedBy>
  <cp:revision>195</cp:revision>
  <dcterms:created xsi:type="dcterms:W3CDTF">2021-06-04T07:21:01Z</dcterms:created>
  <dcterms:modified xsi:type="dcterms:W3CDTF">2026-02-14T05:38:14Z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0x0101009C866F6970D0494894EBDF34D6F444F4</vt:lpwstr>
  </property>
</Properties>
</file>